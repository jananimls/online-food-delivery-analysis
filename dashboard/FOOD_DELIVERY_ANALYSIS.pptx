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charts/chart2.xml" ContentType="application/vnd.openxmlformats-officedocument.drawingml.chart+xml"/>
  <Override PartName="/ppt/notesSlides/notesSlide5.xml" ContentType="application/vnd.openxmlformats-officedocument.presentationml.notesSlide+xml"/>
  <Override PartName="/ppt/charts/chart3.xml" ContentType="application/vnd.openxmlformats-officedocument.drawingml.chart+xml"/>
  <Override PartName="/ppt/notesSlides/notesSlide6.xml" ContentType="application/vnd.openxmlformats-officedocument.presentationml.notesSlide+xml"/>
  <Override PartName="/ppt/charts/chart4.xml" ContentType="application/vnd.openxmlformats-officedocument.drawingml.chart+xml"/>
  <Override PartName="/ppt/notesSlides/notesSlide7.xml" ContentType="application/vnd.openxmlformats-officedocument.presentationml.notesSlide+xml"/>
  <Override PartName="/ppt/charts/chart5.xml" ContentType="application/vnd.openxmlformats-officedocument.drawingml.chart+xml"/>
  <Override PartName="/ppt/notesSlides/notesSlide8.xml" ContentType="application/vnd.openxmlformats-officedocument.presentationml.notesSlide+xml"/>
  <Override PartName="/ppt/charts/chart6.xml" ContentType="application/vnd.openxmlformats-officedocument.drawingml.chart+xml"/>
  <Override PartName="/ppt/notesSlides/notesSlide9.xml" ContentType="application/vnd.openxmlformats-officedocument.presentationml.notesSlide+xml"/>
  <Override PartName="/ppt/charts/chart7.xml" ContentType="application/vnd.openxmlformats-officedocument.drawingml.chart+xml"/>
  <Override PartName="/ppt/notesSlides/notesSlide10.xml" ContentType="application/vnd.openxmlformats-officedocument.presentationml.notesSlide+xml"/>
  <Override PartName="/ppt/charts/chart8.xml" ContentType="application/vnd.openxmlformats-officedocument.drawingml.chart+xml"/>
  <Override PartName="/ppt/charts/chart9.xml" ContentType="application/vnd.openxmlformats-officedocument.drawingml.chart+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10.xml" ContentType="application/vnd.openxmlformats-officedocument.drawingml.chart+xml"/>
  <Override PartName="/ppt/notesSlides/notesSlide13.xml" ContentType="application/vnd.openxmlformats-officedocument.presentationml.notesSlide+xml"/>
  <Override PartName="/ppt/charts/chart11.xml" ContentType="application/vnd.openxmlformats-officedocument.drawingml.chart+xml"/>
  <Override PartName="/ppt/notesSlides/notesSlide14.xml" ContentType="application/vnd.openxmlformats-officedocument.presentationml.notesSlide+xml"/>
  <Override PartName="/ppt/charts/chart12.xml" ContentType="application/vnd.openxmlformats-officedocument.drawingml.chart+xml"/>
  <Override PartName="/ppt/charts/chart13.xml" ContentType="application/vnd.openxmlformats-officedocument.drawingml.chart+xml"/>
  <Override PartName="/ppt/notesSlides/notesSlide15.xml" ContentType="application/vnd.openxmlformats-officedocument.presentationml.notesSlide+xml"/>
  <Override PartName="/ppt/charts/chart14.xml" ContentType="application/vnd.openxmlformats-officedocument.drawingml.chart+xml"/>
  <Override PartName="/ppt/notesSlides/notesSlide16.xml" ContentType="application/vnd.openxmlformats-officedocument.presentationml.notesSlide+xml"/>
  <Override PartName="/ppt/charts/chart15.xml" ContentType="application/vnd.openxmlformats-officedocument.drawingml.chart+xml"/>
  <Override PartName="/ppt/notesSlides/notesSlide17.xml" ContentType="application/vnd.openxmlformats-officedocument.presentationml.notesSlide+xml"/>
  <Override PartName="/ppt/charts/chart16.xml" ContentType="application/vnd.openxmlformats-officedocument.drawingml.chart+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D206BEB6-8C01-C757-E483-3B55759CBB81}">
          <p14:sldIdLst>
            <p14:sldId id="256"/>
            <p14:sldId id="257"/>
          </p14:sldIdLst>
        </p14:section>
        <p14:section name="Customers &amp; Orders" id="{4E8E5CE4-2DD1-242D-4B73-86A0E39C7F91}">
          <p14:sldIdLst>
            <p14:sldId id="258"/>
            <p14:sldId id="259"/>
            <p14:sldId id="260"/>
            <p14:sldId id="261"/>
            <p14:sldId id="262"/>
          </p14:sldIdLst>
        </p14:section>
        <p14:section name="Revenue &amp; Profit" id="{599885D1-89BD-46B5-5A9C-D6DF2CC92EC5}">
          <p14:sldIdLst>
            <p14:sldId id="263"/>
            <p14:sldId id="264"/>
            <p14:sldId id="265"/>
            <p14:sldId id="266"/>
          </p14:sldIdLst>
        </p14:section>
        <p14:section name="Delivery Performance" id="{79E77725-3CE5-3505-1E5C-0DAE6177C440}">
          <p14:sldIdLst>
            <p14:sldId id="267"/>
            <p14:sldId id="268"/>
            <p14:sldId id="269"/>
          </p14:sldIdLst>
        </p14:section>
        <p14:section name="Restaurants &amp; Cancellations" id="{E4902C2B-57A1-5B59-6162-9070428B3B1F}">
          <p14:sldIdLst>
            <p14:sldId id="270"/>
            <p14:sldId id="271"/>
            <p14:sldId id="272"/>
          </p14:sldIdLst>
        </p14:section>
        <p14:section name="Wrap-up" id="{3FB83CFB-450A-E6E3-5753-81C40B1EFE73}">
          <p14:sldIdLst>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3" d="100"/>
          <a:sy n="63" d="100"/>
        </p:scale>
        <p:origin x="780"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_rels/chart14.xml.rels><?xml version="1.0" encoding="UTF-8" standalone="yes"?>
<Relationships xmlns="http://schemas.openxmlformats.org/package/2006/relationships"><Relationship Id="rId1" Type="http://schemas.openxmlformats.org/officeDocument/2006/relationships/package" Target="../embeddings/Microsoft_Excel_Worksheet13.xlsx"/></Relationships>
</file>

<file path=ppt/charts/_rels/chart15.xml.rels><?xml version="1.0" encoding="UTF-8" standalone="yes"?>
<Relationships xmlns="http://schemas.openxmlformats.org/package/2006/relationships"><Relationship Id="rId1" Type="http://schemas.openxmlformats.org/officeDocument/2006/relationships/package" Target="../embeddings/Microsoft_Excel_Worksheet14.xlsx"/></Relationships>
</file>

<file path=ppt/charts/_rels/chart16.xml.rels><?xml version="1.0" encoding="UTF-8" standalone="yes"?>
<Relationships xmlns="http://schemas.openxmlformats.org/package/2006/relationships"><Relationship Id="rId1" Type="http://schemas.openxmlformats.org/officeDocument/2006/relationships/package" Target="../embeddings/Microsoft_Excel_Worksheet15.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Total delivered-order spending</a:t>
            </a:r>
          </a:p>
        </c:rich>
      </c:tx>
      <c:overlay val="0"/>
    </c:title>
    <c:autoTitleDeleted val="0"/>
    <c:plotArea>
      <c:layout/>
      <c:barChart>
        <c:barDir val="bar"/>
        <c:grouping val="clustered"/>
        <c:varyColors val="0"/>
        <c:ser>
          <c:idx val="0"/>
          <c:order val="0"/>
          <c:tx>
            <c:strRef>
              <c:f>Sheet1!$B$1</c:f>
              <c:strCache>
                <c:ptCount val="1"/>
                <c:pt idx="0">
                  <c:v>Total delivered-order spending</c:v>
                </c:pt>
              </c:strCache>
            </c:strRef>
          </c:tx>
          <c:spPr>
            <a:solidFill>
              <a:srgbClr val="E4572E"/>
            </a:solidFill>
            <a:effectLst/>
          </c:spPr>
          <c:invertIfNegative val="0"/>
          <c:dPt>
            <c:idx val="0"/>
            <c:invertIfNegative val="0"/>
            <c:bubble3D val="0"/>
            <c:spPr>
              <a:solidFill>
                <a:srgbClr val="E4572E"/>
              </a:solidFill>
              <a:effectLst/>
            </c:spPr>
            <c:extLst>
              <c:ext xmlns:c16="http://schemas.microsoft.com/office/drawing/2014/chart" uri="{C3380CC4-5D6E-409C-BE32-E72D297353CC}">
                <c16:uniqueId val="{00000001-BF30-4E9E-8716-01DB7BE3E058}"/>
              </c:ext>
            </c:extLst>
          </c:dPt>
          <c:dPt>
            <c:idx val="1"/>
            <c:invertIfNegative val="0"/>
            <c:bubble3D val="0"/>
            <c:spPr>
              <a:solidFill>
                <a:srgbClr val="264653"/>
              </a:solidFill>
              <a:effectLst/>
            </c:spPr>
            <c:extLst>
              <c:ext xmlns:c16="http://schemas.microsoft.com/office/drawing/2014/chart" uri="{C3380CC4-5D6E-409C-BE32-E72D297353CC}">
                <c16:uniqueId val="{00000003-BF30-4E9E-8716-01DB7BE3E058}"/>
              </c:ext>
            </c:extLst>
          </c:dPt>
          <c:dPt>
            <c:idx val="2"/>
            <c:invertIfNegative val="0"/>
            <c:bubble3D val="0"/>
            <c:spPr>
              <a:solidFill>
                <a:srgbClr val="264653"/>
              </a:solidFill>
              <a:effectLst/>
            </c:spPr>
            <c:extLst>
              <c:ext xmlns:c16="http://schemas.microsoft.com/office/drawing/2014/chart" uri="{C3380CC4-5D6E-409C-BE32-E72D297353CC}">
                <c16:uniqueId val="{00000005-BF30-4E9E-8716-01DB7BE3E058}"/>
              </c:ext>
            </c:extLst>
          </c:dPt>
          <c:dPt>
            <c:idx val="3"/>
            <c:invertIfNegative val="0"/>
            <c:bubble3D val="0"/>
            <c:spPr>
              <a:solidFill>
                <a:srgbClr val="264653"/>
              </a:solidFill>
              <a:effectLst/>
            </c:spPr>
            <c:extLst>
              <c:ext xmlns:c16="http://schemas.microsoft.com/office/drawing/2014/chart" uri="{C3380CC4-5D6E-409C-BE32-E72D297353CC}">
                <c16:uniqueId val="{00000007-BF30-4E9E-8716-01DB7BE3E058}"/>
              </c:ext>
            </c:extLst>
          </c:dPt>
          <c:dPt>
            <c:idx val="4"/>
            <c:invertIfNegative val="0"/>
            <c:bubble3D val="0"/>
            <c:spPr>
              <a:solidFill>
                <a:srgbClr val="264653"/>
              </a:solidFill>
              <a:effectLst/>
            </c:spPr>
            <c:extLst>
              <c:ext xmlns:c16="http://schemas.microsoft.com/office/drawing/2014/chart" uri="{C3380CC4-5D6E-409C-BE32-E72D297353CC}">
                <c16:uniqueId val="{00000009-BF30-4E9E-8716-01DB7BE3E058}"/>
              </c:ext>
            </c:extLst>
          </c:dPt>
          <c:dLbls>
            <c:numFmt formatCode="#,##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CUST5267</c:v>
                </c:pt>
                <c:pt idx="1">
                  <c:v>CUST6706</c:v>
                </c:pt>
                <c:pt idx="2">
                  <c:v>CUST1606</c:v>
                </c:pt>
                <c:pt idx="3">
                  <c:v>CUST5534</c:v>
                </c:pt>
                <c:pt idx="4">
                  <c:v>CUST1239</c:v>
                </c:pt>
              </c:strCache>
            </c:strRef>
          </c:cat>
          <c:val>
            <c:numRef>
              <c:f>Sheet1!$B$2:$B$6</c:f>
              <c:numCache>
                <c:formatCode>General</c:formatCode>
                <c:ptCount val="5"/>
                <c:pt idx="0">
                  <c:v>48727</c:v>
                </c:pt>
                <c:pt idx="1">
                  <c:v>47539</c:v>
                </c:pt>
                <c:pt idx="2">
                  <c:v>43915</c:v>
                </c:pt>
                <c:pt idx="3">
                  <c:v>43453</c:v>
                </c:pt>
                <c:pt idx="4">
                  <c:v>43119</c:v>
                </c:pt>
              </c:numCache>
            </c:numRef>
          </c:val>
          <c:extLst>
            <c:ext xmlns:c16="http://schemas.microsoft.com/office/drawing/2014/chart" uri="{C3380CC4-5D6E-409C-BE32-E72D297353CC}">
              <c16:uniqueId val="{0000000A-BF30-4E9E-8716-01DB7BE3E058}"/>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58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Average order value by age group</a:t>
            </a:r>
          </a:p>
        </c:rich>
      </c:tx>
      <c:overlay val="0"/>
    </c:title>
    <c:autoTitleDeleted val="0"/>
    <c:plotArea>
      <c:layout/>
      <c:barChart>
        <c:barDir val="col"/>
        <c:grouping val="clustered"/>
        <c:varyColors val="0"/>
        <c:ser>
          <c:idx val="0"/>
          <c:order val="0"/>
          <c:tx>
            <c:strRef>
              <c:f>Sheet1!$B$1</c:f>
              <c:strCache>
                <c:ptCount val="1"/>
                <c:pt idx="0">
                  <c:v>Average order value by age group</c:v>
                </c:pt>
              </c:strCache>
            </c:strRef>
          </c:tx>
          <c:spPr>
            <a:solidFill>
              <a:srgbClr val="264653"/>
            </a:solidFill>
            <a:effectLst/>
          </c:spPr>
          <c:invertIfNegative val="0"/>
          <c:dPt>
            <c:idx val="0"/>
            <c:invertIfNegative val="0"/>
            <c:bubble3D val="0"/>
            <c:spPr>
              <a:solidFill>
                <a:srgbClr val="264653"/>
              </a:solidFill>
              <a:effectLst/>
            </c:spPr>
            <c:extLst>
              <c:ext xmlns:c16="http://schemas.microsoft.com/office/drawing/2014/chart" uri="{C3380CC4-5D6E-409C-BE32-E72D297353CC}">
                <c16:uniqueId val="{00000001-5F6E-40D9-B499-114DAFBF4878}"/>
              </c:ext>
            </c:extLst>
          </c:dPt>
          <c:dPt>
            <c:idx val="1"/>
            <c:invertIfNegative val="0"/>
            <c:bubble3D val="0"/>
            <c:spPr>
              <a:solidFill>
                <a:srgbClr val="E4572E"/>
              </a:solidFill>
              <a:effectLst/>
            </c:spPr>
            <c:extLst>
              <c:ext xmlns:c16="http://schemas.microsoft.com/office/drawing/2014/chart" uri="{C3380CC4-5D6E-409C-BE32-E72D297353CC}">
                <c16:uniqueId val="{00000003-5F6E-40D9-B499-114DAFBF4878}"/>
              </c:ext>
            </c:extLst>
          </c:dPt>
          <c:dPt>
            <c:idx val="2"/>
            <c:invertIfNegative val="0"/>
            <c:bubble3D val="0"/>
            <c:spPr>
              <a:solidFill>
                <a:srgbClr val="264653"/>
              </a:solidFill>
              <a:effectLst/>
            </c:spPr>
            <c:extLst>
              <c:ext xmlns:c16="http://schemas.microsoft.com/office/drawing/2014/chart" uri="{C3380CC4-5D6E-409C-BE32-E72D297353CC}">
                <c16:uniqueId val="{00000005-5F6E-40D9-B499-114DAFBF4878}"/>
              </c:ext>
            </c:extLst>
          </c:dPt>
          <c:dPt>
            <c:idx val="3"/>
            <c:invertIfNegative val="0"/>
            <c:bubble3D val="0"/>
            <c:spPr>
              <a:solidFill>
                <a:srgbClr val="264653"/>
              </a:solidFill>
              <a:effectLst/>
            </c:spPr>
            <c:extLst>
              <c:ext xmlns:c16="http://schemas.microsoft.com/office/drawing/2014/chart" uri="{C3380CC4-5D6E-409C-BE32-E72D297353CC}">
                <c16:uniqueId val="{00000007-5F6E-40D9-B499-114DAFBF4878}"/>
              </c:ext>
            </c:extLst>
          </c:dPt>
          <c:dLbls>
            <c:numFmt formatCode="#,##0.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Under 25</c:v>
                </c:pt>
                <c:pt idx="1">
                  <c:v>25–35</c:v>
                </c:pt>
                <c:pt idx="2">
                  <c:v>36–50</c:v>
                </c:pt>
                <c:pt idx="3">
                  <c:v>Above 50</c:v>
                </c:pt>
              </c:strCache>
            </c:strRef>
          </c:cat>
          <c:val>
            <c:numRef>
              <c:f>Sheet1!$B$2:$B$5</c:f>
              <c:numCache>
                <c:formatCode>General</c:formatCode>
                <c:ptCount val="4"/>
                <c:pt idx="0">
                  <c:v>1788.85</c:v>
                </c:pt>
                <c:pt idx="1">
                  <c:v>1799.14</c:v>
                </c:pt>
                <c:pt idx="2">
                  <c:v>1779.14</c:v>
                </c:pt>
                <c:pt idx="3">
                  <c:v>1785.11</c:v>
                </c:pt>
              </c:numCache>
            </c:numRef>
          </c:val>
          <c:extLst>
            <c:ext xmlns:c16="http://schemas.microsoft.com/office/drawing/2014/chart" uri="{C3380CC4-5D6E-409C-BE32-E72D297353CC}">
              <c16:uniqueId val="{00000008-5F6E-40D9-B499-114DAFBF4878}"/>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200" b="0" i="0" u="none" strike="noStrike">
                    <a:solidFill>
                      <a:srgbClr val="5F6670"/>
                    </a:solidFill>
                    <a:latin typeface="Arial"/>
                  </a:defRPr>
                </a:pPr>
                <a:r>
                  <a:rPr lang="en-IN" sz="1200" b="0" i="0" u="none" strike="noStrike">
                    <a:solidFill>
                      <a:srgbClr val="5F6670"/>
                    </a:solidFill>
                    <a:latin typeface="Arial"/>
                  </a:rPr>
                  <a:t>Age group</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21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Share of total orders</a:t>
            </a:r>
          </a:p>
        </c:rich>
      </c:tx>
      <c:overlay val="0"/>
    </c:title>
    <c:autoTitleDeleted val="0"/>
    <c:plotArea>
      <c:layout/>
      <c:doughnutChart>
        <c:varyColors val="1"/>
        <c:ser>
          <c:idx val="0"/>
          <c:order val="0"/>
          <c:tx>
            <c:strRef>
              <c:f>Sheet1!$B$1</c:f>
              <c:strCache>
                <c:ptCount val="1"/>
                <c:pt idx="0">
                  <c:v>Orders</c:v>
                </c:pt>
              </c:strCache>
            </c:strRef>
          </c:tx>
          <c:spPr>
            <a:solidFill>
              <a:schemeClr val="accent1"/>
            </a:solidFill>
            <a:ln w="9525" cap="flat">
              <a:solidFill>
                <a:srgbClr val="F9F9F9"/>
              </a:solidFill>
              <a:prstDash val="solid"/>
              <a:round/>
            </a:ln>
            <a:effectLst/>
          </c:spPr>
          <c:dPt>
            <c:idx val="0"/>
            <c:bubble3D val="0"/>
            <c:spPr>
              <a:solidFill>
                <a:srgbClr val="E4572E"/>
              </a:solidFill>
              <a:effectLst/>
            </c:spPr>
            <c:extLst>
              <c:ext xmlns:c16="http://schemas.microsoft.com/office/drawing/2014/chart" uri="{C3380CC4-5D6E-409C-BE32-E72D297353CC}">
                <c16:uniqueId val="{00000001-C643-402A-B7FD-AEEA90BEEF03}"/>
              </c:ext>
            </c:extLst>
          </c:dPt>
          <c:dPt>
            <c:idx val="1"/>
            <c:bubble3D val="0"/>
            <c:spPr>
              <a:solidFill>
                <a:srgbClr val="264653"/>
              </a:solidFill>
              <a:effectLst/>
            </c:spPr>
            <c:extLst>
              <c:ext xmlns:c16="http://schemas.microsoft.com/office/drawing/2014/chart" uri="{C3380CC4-5D6E-409C-BE32-E72D297353CC}">
                <c16:uniqueId val="{00000003-C643-402A-B7FD-AEEA90BEEF03}"/>
              </c:ext>
            </c:extLst>
          </c:dPt>
          <c:dLbls>
            <c:dLbl>
              <c:idx val="0"/>
              <c:numFmt formatCode="0.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643-402A-B7FD-AEEA90BEEF03}"/>
                </c:ext>
              </c:extLst>
            </c:dLbl>
            <c:dLbl>
              <c:idx val="1"/>
              <c:numFmt formatCode="0.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643-402A-B7FD-AEEA90BEEF03}"/>
                </c:ext>
              </c:extLst>
            </c:dLbl>
            <c:numFmt formatCode="0.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Sheet1!$A$2:$A$3</c:f>
              <c:strCache>
                <c:ptCount val="2"/>
                <c:pt idx="0">
                  <c:v>Weekday</c:v>
                </c:pt>
                <c:pt idx="1">
                  <c:v>Weekend</c:v>
                </c:pt>
              </c:strCache>
            </c:strRef>
          </c:cat>
          <c:val>
            <c:numRef>
              <c:f>Sheet1!$B$2:$B$3</c:f>
              <c:numCache>
                <c:formatCode>General</c:formatCode>
                <c:ptCount val="2"/>
                <c:pt idx="0">
                  <c:v>71632</c:v>
                </c:pt>
                <c:pt idx="1">
                  <c:v>28368</c:v>
                </c:pt>
              </c:numCache>
            </c:numRef>
          </c:val>
          <c:extLst>
            <c:ext xmlns:c16="http://schemas.microsoft.com/office/drawing/2014/chart" uri="{C3380CC4-5D6E-409C-BE32-E72D297353CC}">
              <c16:uniqueId val="{00000004-C643-402A-B7FD-AEEA90BEEF03}"/>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300">
              <a:solidFill>
                <a:srgbClr val="231F2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Total orders by time of day</a:t>
            </a:r>
          </a:p>
        </c:rich>
      </c:tx>
      <c:overlay val="0"/>
    </c:title>
    <c:autoTitleDeleted val="0"/>
    <c:plotArea>
      <c:layout/>
      <c:barChart>
        <c:barDir val="col"/>
        <c:grouping val="clustered"/>
        <c:varyColors val="0"/>
        <c:ser>
          <c:idx val="0"/>
          <c:order val="0"/>
          <c:tx>
            <c:strRef>
              <c:f>Sheet1!$B$1</c:f>
              <c:strCache>
                <c:ptCount val="1"/>
                <c:pt idx="0">
                  <c:v>Total orders by time of day</c:v>
                </c:pt>
              </c:strCache>
            </c:strRef>
          </c:tx>
          <c:spPr>
            <a:solidFill>
              <a:srgbClr val="264653"/>
            </a:solidFill>
            <a:effectLst/>
          </c:spPr>
          <c:invertIfNegative val="0"/>
          <c:dPt>
            <c:idx val="0"/>
            <c:invertIfNegative val="0"/>
            <c:bubble3D val="0"/>
            <c:extLst>
              <c:ext xmlns:c16="http://schemas.microsoft.com/office/drawing/2014/chart" uri="{C3380CC4-5D6E-409C-BE32-E72D297353CC}">
                <c16:uniqueId val="{00000001-0096-481A-ACFB-4D253162194B}"/>
              </c:ext>
            </c:extLst>
          </c:dPt>
          <c:dPt>
            <c:idx val="1"/>
            <c:invertIfNegative val="0"/>
            <c:bubble3D val="0"/>
            <c:spPr>
              <a:solidFill>
                <a:srgbClr val="E4572E"/>
              </a:solidFill>
              <a:effectLst/>
            </c:spPr>
            <c:extLst>
              <c:ext xmlns:c16="http://schemas.microsoft.com/office/drawing/2014/chart" uri="{C3380CC4-5D6E-409C-BE32-E72D297353CC}">
                <c16:uniqueId val="{00000003-0096-481A-ACFB-4D253162194B}"/>
              </c:ext>
            </c:extLst>
          </c:dPt>
          <c:dPt>
            <c:idx val="2"/>
            <c:invertIfNegative val="0"/>
            <c:bubble3D val="0"/>
            <c:spPr>
              <a:solidFill>
                <a:srgbClr val="7C8693"/>
              </a:solidFill>
              <a:effectLst/>
            </c:spPr>
            <c:extLst>
              <c:ext xmlns:c16="http://schemas.microsoft.com/office/drawing/2014/chart" uri="{C3380CC4-5D6E-409C-BE32-E72D297353CC}">
                <c16:uniqueId val="{00000005-0096-481A-ACFB-4D253162194B}"/>
              </c:ext>
            </c:extLst>
          </c:dPt>
          <c:dLbls>
            <c:numFmt formatCode="#,##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Off-Peak</c:v>
                </c:pt>
                <c:pt idx="1">
                  <c:v>Peak</c:v>
                </c:pt>
                <c:pt idx="2">
                  <c:v>Unknown</c:v>
                </c:pt>
              </c:strCache>
            </c:strRef>
          </c:cat>
          <c:val>
            <c:numRef>
              <c:f>Sheet1!$B$2:$B$4</c:f>
              <c:numCache>
                <c:formatCode>General</c:formatCode>
                <c:ptCount val="3"/>
                <c:pt idx="0">
                  <c:v>33585</c:v>
                </c:pt>
                <c:pt idx="1">
                  <c:v>33453</c:v>
                </c:pt>
                <c:pt idx="2">
                  <c:v>32962</c:v>
                </c:pt>
              </c:numCache>
            </c:numRef>
          </c:val>
          <c:extLst>
            <c:ext xmlns:c16="http://schemas.microsoft.com/office/drawing/2014/chart" uri="{C3380CC4-5D6E-409C-BE32-E72D297353CC}">
              <c16:uniqueId val="{00000006-0096-481A-ACFB-4D253162194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4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Total orders by payment mode</a:t>
            </a:r>
          </a:p>
        </c:rich>
      </c:tx>
      <c:overlay val="0"/>
    </c:title>
    <c:autoTitleDeleted val="0"/>
    <c:plotArea>
      <c:layout/>
      <c:barChart>
        <c:barDir val="bar"/>
        <c:grouping val="clustered"/>
        <c:varyColors val="0"/>
        <c:ser>
          <c:idx val="0"/>
          <c:order val="0"/>
          <c:tx>
            <c:strRef>
              <c:f>Sheet1!$B$1</c:f>
              <c:strCache>
                <c:ptCount val="1"/>
                <c:pt idx="0">
                  <c:v>Total orders by payment mode</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1-9C9C-42E4-A7E2-995D2DF79F54}"/>
              </c:ext>
            </c:extLst>
          </c:dPt>
          <c:dPt>
            <c:idx val="1"/>
            <c:invertIfNegative val="0"/>
            <c:bubble3D val="0"/>
            <c:spPr>
              <a:solidFill>
                <a:srgbClr val="264653"/>
              </a:solidFill>
              <a:effectLst/>
            </c:spPr>
            <c:extLst>
              <c:ext xmlns:c16="http://schemas.microsoft.com/office/drawing/2014/chart" uri="{C3380CC4-5D6E-409C-BE32-E72D297353CC}">
                <c16:uniqueId val="{00000003-9C9C-42E4-A7E2-995D2DF79F54}"/>
              </c:ext>
            </c:extLst>
          </c:dPt>
          <c:dPt>
            <c:idx val="2"/>
            <c:invertIfNegative val="0"/>
            <c:bubble3D val="0"/>
            <c:spPr>
              <a:solidFill>
                <a:srgbClr val="264653"/>
              </a:solidFill>
              <a:effectLst/>
            </c:spPr>
            <c:extLst>
              <c:ext xmlns:c16="http://schemas.microsoft.com/office/drawing/2014/chart" uri="{C3380CC4-5D6E-409C-BE32-E72D297353CC}">
                <c16:uniqueId val="{00000005-9C9C-42E4-A7E2-995D2DF79F54}"/>
              </c:ext>
            </c:extLst>
          </c:dPt>
          <c:dPt>
            <c:idx val="3"/>
            <c:invertIfNegative val="0"/>
            <c:bubble3D val="0"/>
            <c:spPr>
              <a:solidFill>
                <a:srgbClr val="264653"/>
              </a:solidFill>
              <a:effectLst/>
            </c:spPr>
            <c:extLst>
              <c:ext xmlns:c16="http://schemas.microsoft.com/office/drawing/2014/chart" uri="{C3380CC4-5D6E-409C-BE32-E72D297353CC}">
                <c16:uniqueId val="{00000007-9C9C-42E4-A7E2-995D2DF79F54}"/>
              </c:ext>
            </c:extLst>
          </c:dPt>
          <c:dLbls>
            <c:numFmt formatCode="#,##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Card</c:v>
                </c:pt>
                <c:pt idx="1">
                  <c:v>Wallet</c:v>
                </c:pt>
                <c:pt idx="2">
                  <c:v>COD</c:v>
                </c:pt>
                <c:pt idx="3">
                  <c:v>UPI</c:v>
                </c:pt>
              </c:strCache>
            </c:strRef>
          </c:cat>
          <c:val>
            <c:numRef>
              <c:f>Sheet1!$B$2:$B$5</c:f>
              <c:numCache>
                <c:formatCode>General</c:formatCode>
                <c:ptCount val="4"/>
                <c:pt idx="0">
                  <c:v>20094</c:v>
                </c:pt>
                <c:pt idx="1">
                  <c:v>20086</c:v>
                </c:pt>
                <c:pt idx="2">
                  <c:v>19977</c:v>
                </c:pt>
                <c:pt idx="3">
                  <c:v>19932</c:v>
                </c:pt>
              </c:numCache>
            </c:numRef>
          </c:val>
          <c:extLst>
            <c:ext xmlns:c16="http://schemas.microsoft.com/office/drawing/2014/chart" uri="{C3380CC4-5D6E-409C-BE32-E72D297353CC}">
              <c16:uniqueId val="{00000008-9C9C-42E4-A7E2-995D2DF79F54}"/>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2500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Monthly revenue (millions)</a:t>
            </a:r>
          </a:p>
        </c:rich>
      </c:tx>
      <c:overlay val="0"/>
    </c:title>
    <c:autoTitleDeleted val="0"/>
    <c:plotArea>
      <c:layout/>
      <c:lineChart>
        <c:grouping val="standard"/>
        <c:varyColors val="0"/>
        <c:ser>
          <c:idx val="0"/>
          <c:order val="0"/>
          <c:tx>
            <c:strRef>
              <c:f>Sheet1!$B$1</c:f>
              <c:strCache>
                <c:ptCount val="1"/>
                <c:pt idx="0">
                  <c:v>Monthly revenue (millions)</c:v>
                </c:pt>
              </c:strCache>
            </c:strRef>
          </c:tx>
          <c:spPr>
            <a:ln w="38100" cap="flat">
              <a:solidFill>
                <a:srgbClr val="E4572E"/>
              </a:solidFill>
              <a:prstDash val="solid"/>
              <a:round/>
            </a:ln>
            <a:effectLst/>
          </c:spPr>
          <c:marker>
            <c:symbol val="circle"/>
            <c:size val="9"/>
            <c:spPr>
              <a:solidFill>
                <a:srgbClr val="E4572E"/>
              </a:solidFill>
              <a:ln w="9525" cap="flat">
                <a:solidFill>
                  <a:srgbClr val="E4572E"/>
                </a:solidFill>
                <a:prstDash val="solid"/>
                <a:round/>
              </a:ln>
              <a:effectLst/>
            </c:spPr>
          </c:marker>
          <c:dLbls>
            <c:numFmt formatCode="0.0" sourceLinked="0"/>
            <c:spPr>
              <a:noFill/>
              <a:ln>
                <a:noFill/>
              </a:ln>
              <a:effectLst/>
            </c:spPr>
            <c:txPr>
              <a:bodyPr/>
              <a:lstStyle/>
              <a:p>
                <a:pPr>
                  <a:defRPr sz="1200" b="1" i="0" u="none" strike="noStrike">
                    <a:solidFill>
                      <a:srgbClr val="231F20"/>
                    </a:solidFill>
                    <a:latin typeface="+mn-lt"/>
                  </a:defRPr>
                </a:pPr>
                <a:endParaRPr lang="en-US"/>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Sheet1!$A$2:$A$13</c:f>
              <c:strCache>
                <c:ptCount val="12"/>
                <c:pt idx="0">
                  <c:v>Jan</c:v>
                </c:pt>
                <c:pt idx="1">
                  <c:v>Feb</c:v>
                </c:pt>
                <c:pt idx="2">
                  <c:v>Mar</c:v>
                </c:pt>
                <c:pt idx="3">
                  <c:v>Apr</c:v>
                </c:pt>
                <c:pt idx="4">
                  <c:v>May</c:v>
                </c:pt>
                <c:pt idx="5">
                  <c:v>Jun</c:v>
                </c:pt>
                <c:pt idx="6">
                  <c:v>Jul</c:v>
                </c:pt>
                <c:pt idx="7">
                  <c:v>Aug</c:v>
                </c:pt>
                <c:pt idx="8">
                  <c:v>Sep</c:v>
                </c:pt>
                <c:pt idx="9">
                  <c:v>Oct</c:v>
                </c:pt>
                <c:pt idx="10">
                  <c:v>Nov</c:v>
                </c:pt>
                <c:pt idx="11">
                  <c:v>Dec</c:v>
                </c:pt>
              </c:strCache>
            </c:strRef>
          </c:cat>
          <c:val>
            <c:numRef>
              <c:f>Sheet1!$B$2:$B$13</c:f>
              <c:numCache>
                <c:formatCode>General</c:formatCode>
                <c:ptCount val="12"/>
                <c:pt idx="0">
                  <c:v>14.55</c:v>
                </c:pt>
                <c:pt idx="1">
                  <c:v>13.47</c:v>
                </c:pt>
                <c:pt idx="2">
                  <c:v>14.26</c:v>
                </c:pt>
                <c:pt idx="3">
                  <c:v>13.84</c:v>
                </c:pt>
                <c:pt idx="4">
                  <c:v>14.28</c:v>
                </c:pt>
                <c:pt idx="5">
                  <c:v>14.02</c:v>
                </c:pt>
                <c:pt idx="6">
                  <c:v>16.440000000000001</c:v>
                </c:pt>
                <c:pt idx="7">
                  <c:v>14.12</c:v>
                </c:pt>
                <c:pt idx="8">
                  <c:v>14.16</c:v>
                </c:pt>
                <c:pt idx="9">
                  <c:v>14.08</c:v>
                </c:pt>
                <c:pt idx="10">
                  <c:v>13.92</c:v>
                </c:pt>
                <c:pt idx="11">
                  <c:v>13.75</c:v>
                </c:pt>
              </c:numCache>
            </c:numRef>
          </c:val>
          <c:smooth val="0"/>
          <c:extLst>
            <c:ext xmlns:c16="http://schemas.microsoft.com/office/drawing/2014/chart" uri="{C3380CC4-5D6E-409C-BE32-E72D297353CC}">
              <c16:uniqueId val="{00000000-8D9E-4ACB-8678-4ADFAD301298}"/>
            </c:ext>
          </c:extLst>
        </c:ser>
        <c:dLbls>
          <c:dLblPos val="t"/>
          <c:showLegendKey val="0"/>
          <c:showVal val="1"/>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18"/>
          <c:min val="12"/>
        </c:scaling>
        <c:delete val="0"/>
        <c:axPos val="l"/>
        <c:majorGridlines>
          <c:spPr>
            <a:ln w="9525" cap="flat">
              <a:solidFill>
                <a:srgbClr val="E3E6EA"/>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F6670"/>
                </a:solidFill>
                <a:latin typeface="+mn-lt"/>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Average profit by discount bucket</a:t>
            </a:r>
          </a:p>
        </c:rich>
      </c:tx>
      <c:overlay val="0"/>
    </c:title>
    <c:autoTitleDeleted val="0"/>
    <c:plotArea>
      <c:layout/>
      <c:barChart>
        <c:barDir val="col"/>
        <c:grouping val="clustered"/>
        <c:varyColors val="0"/>
        <c:ser>
          <c:idx val="0"/>
          <c:order val="0"/>
          <c:tx>
            <c:strRef>
              <c:f>Sheet1!$B$1</c:f>
              <c:strCache>
                <c:ptCount val="1"/>
                <c:pt idx="0">
                  <c:v>Average profit by discount bucket</c:v>
                </c:pt>
              </c:strCache>
            </c:strRef>
          </c:tx>
          <c:spPr>
            <a:solidFill>
              <a:srgbClr val="264653"/>
            </a:solidFill>
            <a:effectLst/>
          </c:spPr>
          <c:invertIfNegative val="0"/>
          <c:dPt>
            <c:idx val="0"/>
            <c:invertIfNegative val="0"/>
            <c:bubble3D val="0"/>
            <c:extLst>
              <c:ext xmlns:c16="http://schemas.microsoft.com/office/drawing/2014/chart" uri="{C3380CC4-5D6E-409C-BE32-E72D297353CC}">
                <c16:uniqueId val="{00000001-C799-46A5-A81F-F7FD738DEA74}"/>
              </c:ext>
            </c:extLst>
          </c:dPt>
          <c:dPt>
            <c:idx val="1"/>
            <c:invertIfNegative val="0"/>
            <c:bubble3D val="0"/>
            <c:extLst>
              <c:ext xmlns:c16="http://schemas.microsoft.com/office/drawing/2014/chart" uri="{C3380CC4-5D6E-409C-BE32-E72D297353CC}">
                <c16:uniqueId val="{00000003-C799-46A5-A81F-F7FD738DEA74}"/>
              </c:ext>
            </c:extLst>
          </c:dPt>
          <c:dPt>
            <c:idx val="2"/>
            <c:invertIfNegative val="0"/>
            <c:bubble3D val="0"/>
            <c:extLst>
              <c:ext xmlns:c16="http://schemas.microsoft.com/office/drawing/2014/chart" uri="{C3380CC4-5D6E-409C-BE32-E72D297353CC}">
                <c16:uniqueId val="{00000005-C799-46A5-A81F-F7FD738DEA74}"/>
              </c:ext>
            </c:extLst>
          </c:dPt>
          <c:dPt>
            <c:idx val="3"/>
            <c:invertIfNegative val="0"/>
            <c:bubble3D val="0"/>
            <c:extLst>
              <c:ext xmlns:c16="http://schemas.microsoft.com/office/drawing/2014/chart" uri="{C3380CC4-5D6E-409C-BE32-E72D297353CC}">
                <c16:uniqueId val="{00000007-C799-46A5-A81F-F7FD738DEA74}"/>
              </c:ext>
            </c:extLst>
          </c:dPt>
          <c:dPt>
            <c:idx val="4"/>
            <c:invertIfNegative val="0"/>
            <c:bubble3D val="0"/>
            <c:extLst>
              <c:ext xmlns:c16="http://schemas.microsoft.com/office/drawing/2014/chart" uri="{C3380CC4-5D6E-409C-BE32-E72D297353CC}">
                <c16:uniqueId val="{00000009-C799-46A5-A81F-F7FD738DEA74}"/>
              </c:ext>
            </c:extLst>
          </c:dPt>
          <c:dPt>
            <c:idx val="5"/>
            <c:invertIfNegative val="0"/>
            <c:bubble3D val="0"/>
            <c:spPr>
              <a:solidFill>
                <a:srgbClr val="E4572E"/>
              </a:solidFill>
              <a:effectLst/>
            </c:spPr>
            <c:extLst>
              <c:ext xmlns:c16="http://schemas.microsoft.com/office/drawing/2014/chart" uri="{C3380CC4-5D6E-409C-BE32-E72D297353CC}">
                <c16:uniqueId val="{0000000B-C799-46A5-A81F-F7FD738DEA74}"/>
              </c:ext>
            </c:extLst>
          </c:dPt>
          <c:dPt>
            <c:idx val="6"/>
            <c:invertIfNegative val="0"/>
            <c:bubble3D val="0"/>
            <c:spPr>
              <a:solidFill>
                <a:srgbClr val="2A9D8F"/>
              </a:solidFill>
              <a:effectLst/>
            </c:spPr>
            <c:extLst>
              <c:ext xmlns:c16="http://schemas.microsoft.com/office/drawing/2014/chart" uri="{C3380CC4-5D6E-409C-BE32-E72D297353CC}">
                <c16:uniqueId val="{0000000D-C799-46A5-A81F-F7FD738DEA74}"/>
              </c:ext>
            </c:extLst>
          </c:dPt>
          <c:dPt>
            <c:idx val="7"/>
            <c:invertIfNegative val="0"/>
            <c:bubble3D val="0"/>
            <c:extLst>
              <c:ext xmlns:c16="http://schemas.microsoft.com/office/drawing/2014/chart" uri="{C3380CC4-5D6E-409C-BE32-E72D297353CC}">
                <c16:uniqueId val="{0000000F-C799-46A5-A81F-F7FD738DEA74}"/>
              </c:ext>
            </c:extLst>
          </c:dPt>
          <c:dLbls>
            <c:numFmt formatCode="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0</c:v>
                </c:pt>
                <c:pt idx="1">
                  <c:v>20</c:v>
                </c:pt>
                <c:pt idx="2">
                  <c:v>50</c:v>
                </c:pt>
                <c:pt idx="3">
                  <c:v>100</c:v>
                </c:pt>
                <c:pt idx="4">
                  <c:v>150–199</c:v>
                </c:pt>
                <c:pt idx="5">
                  <c:v>200–249</c:v>
                </c:pt>
                <c:pt idx="6">
                  <c:v>250–299</c:v>
                </c:pt>
                <c:pt idx="7">
                  <c:v>300</c:v>
                </c:pt>
              </c:strCache>
            </c:strRef>
          </c:cat>
          <c:val>
            <c:numRef>
              <c:f>Sheet1!$B$2:$B$9</c:f>
              <c:numCache>
                <c:formatCode>General</c:formatCode>
                <c:ptCount val="8"/>
                <c:pt idx="0">
                  <c:v>0.15010000000000001</c:v>
                </c:pt>
                <c:pt idx="1">
                  <c:v>0.14949999999999999</c:v>
                </c:pt>
                <c:pt idx="2">
                  <c:v>0.14849999999999999</c:v>
                </c:pt>
                <c:pt idx="3">
                  <c:v>0.15129999999999999</c:v>
                </c:pt>
                <c:pt idx="4">
                  <c:v>0.151</c:v>
                </c:pt>
                <c:pt idx="5">
                  <c:v>0.1409</c:v>
                </c:pt>
                <c:pt idx="6">
                  <c:v>0.1542</c:v>
                </c:pt>
                <c:pt idx="7">
                  <c:v>0.15290000000000001</c:v>
                </c:pt>
              </c:numCache>
            </c:numRef>
          </c:val>
          <c:extLst>
            <c:ext xmlns:c16="http://schemas.microsoft.com/office/drawing/2014/chart" uri="{C3380CC4-5D6E-409C-BE32-E72D297353CC}">
              <c16:uniqueId val="{00000010-C799-46A5-A81F-F7FD738DEA74}"/>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200" b="0" i="0" u="none" strike="noStrike">
                    <a:solidFill>
                      <a:srgbClr val="5F6670"/>
                    </a:solidFill>
                    <a:latin typeface="Arial"/>
                  </a:defRPr>
                </a:pPr>
                <a:r>
                  <a:rPr lang="en-IN" sz="1200" b="0" i="0" u="none" strike="noStrike">
                    <a:solidFill>
                      <a:srgbClr val="5F6670"/>
                    </a:solidFill>
                    <a:latin typeface="Arial"/>
                  </a:rPr>
                  <a:t>Discount bucket</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0.2"/>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Total revenue by city (millions)</a:t>
            </a:r>
          </a:p>
        </c:rich>
      </c:tx>
      <c:overlay val="0"/>
    </c:title>
    <c:autoTitleDeleted val="0"/>
    <c:plotArea>
      <c:layout/>
      <c:barChart>
        <c:barDir val="col"/>
        <c:grouping val="clustered"/>
        <c:varyColors val="0"/>
        <c:ser>
          <c:idx val="0"/>
          <c:order val="0"/>
          <c:tx>
            <c:strRef>
              <c:f>Sheet1!$B$1</c:f>
              <c:strCache>
                <c:ptCount val="1"/>
                <c:pt idx="0">
                  <c:v>Total revenue by city (millions)</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1-F54E-4D17-82CD-358FCA3EE621}"/>
              </c:ext>
            </c:extLst>
          </c:dPt>
          <c:dPt>
            <c:idx val="1"/>
            <c:invertIfNegative val="0"/>
            <c:bubble3D val="0"/>
            <c:spPr>
              <a:solidFill>
                <a:srgbClr val="264653"/>
              </a:solidFill>
              <a:effectLst/>
            </c:spPr>
            <c:extLst>
              <c:ext xmlns:c16="http://schemas.microsoft.com/office/drawing/2014/chart" uri="{C3380CC4-5D6E-409C-BE32-E72D297353CC}">
                <c16:uniqueId val="{00000003-F54E-4D17-82CD-358FCA3EE621}"/>
              </c:ext>
            </c:extLst>
          </c:dPt>
          <c:dPt>
            <c:idx val="2"/>
            <c:invertIfNegative val="0"/>
            <c:bubble3D val="0"/>
            <c:spPr>
              <a:solidFill>
                <a:srgbClr val="264653"/>
              </a:solidFill>
              <a:effectLst/>
            </c:spPr>
            <c:extLst>
              <c:ext xmlns:c16="http://schemas.microsoft.com/office/drawing/2014/chart" uri="{C3380CC4-5D6E-409C-BE32-E72D297353CC}">
                <c16:uniqueId val="{00000005-F54E-4D17-82CD-358FCA3EE621}"/>
              </c:ext>
            </c:extLst>
          </c:dPt>
          <c:dPt>
            <c:idx val="3"/>
            <c:invertIfNegative val="0"/>
            <c:bubble3D val="0"/>
            <c:spPr>
              <a:solidFill>
                <a:srgbClr val="264653"/>
              </a:solidFill>
              <a:effectLst/>
            </c:spPr>
            <c:extLst>
              <c:ext xmlns:c16="http://schemas.microsoft.com/office/drawing/2014/chart" uri="{C3380CC4-5D6E-409C-BE32-E72D297353CC}">
                <c16:uniqueId val="{00000007-F54E-4D17-82CD-358FCA3EE621}"/>
              </c:ext>
            </c:extLst>
          </c:dPt>
          <c:dPt>
            <c:idx val="4"/>
            <c:invertIfNegative val="0"/>
            <c:bubble3D val="0"/>
            <c:spPr>
              <a:solidFill>
                <a:srgbClr val="264653"/>
              </a:solidFill>
              <a:effectLst/>
            </c:spPr>
            <c:extLst>
              <c:ext xmlns:c16="http://schemas.microsoft.com/office/drawing/2014/chart" uri="{C3380CC4-5D6E-409C-BE32-E72D297353CC}">
                <c16:uniqueId val="{00000009-F54E-4D17-82CD-358FCA3EE621}"/>
              </c:ext>
            </c:extLst>
          </c:dPt>
          <c:dLbls>
            <c:numFmt formatCode="0.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Bangalore</c:v>
                </c:pt>
                <c:pt idx="1">
                  <c:v>Hyderabad</c:v>
                </c:pt>
                <c:pt idx="2">
                  <c:v>Delhi</c:v>
                </c:pt>
                <c:pt idx="3">
                  <c:v>Chennai</c:v>
                </c:pt>
                <c:pt idx="4">
                  <c:v>Mumbai</c:v>
                </c:pt>
              </c:strCache>
            </c:strRef>
          </c:cat>
          <c:val>
            <c:numRef>
              <c:f>Sheet1!$B$2:$B$6</c:f>
              <c:numCache>
                <c:formatCode>General</c:formatCode>
                <c:ptCount val="5"/>
                <c:pt idx="0">
                  <c:v>28.79</c:v>
                </c:pt>
                <c:pt idx="1">
                  <c:v>28.68</c:v>
                </c:pt>
                <c:pt idx="2">
                  <c:v>28.4</c:v>
                </c:pt>
                <c:pt idx="3">
                  <c:v>28.27</c:v>
                </c:pt>
                <c:pt idx="4">
                  <c:v>28.15</c:v>
                </c:pt>
              </c:numCache>
            </c:numRef>
          </c:val>
          <c:extLst>
            <c:ext xmlns:c16="http://schemas.microsoft.com/office/drawing/2014/chart" uri="{C3380CC4-5D6E-409C-BE32-E72D297353CC}">
              <c16:uniqueId val="{0000000A-F54E-4D17-82CD-358FCA3EE62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3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Total revenue by cuisine (millions)</a:t>
            </a:r>
          </a:p>
        </c:rich>
      </c:tx>
      <c:overlay val="0"/>
    </c:title>
    <c:autoTitleDeleted val="0"/>
    <c:plotArea>
      <c:layout/>
      <c:barChart>
        <c:barDir val="col"/>
        <c:grouping val="clustered"/>
        <c:varyColors val="0"/>
        <c:ser>
          <c:idx val="0"/>
          <c:order val="0"/>
          <c:tx>
            <c:strRef>
              <c:f>Sheet1!$B$1</c:f>
              <c:strCache>
                <c:ptCount val="1"/>
                <c:pt idx="0">
                  <c:v>Total revenue by cuisine (millions)</c:v>
                </c:pt>
              </c:strCache>
            </c:strRef>
          </c:tx>
          <c:spPr>
            <a:solidFill>
              <a:srgbClr val="2A9D8F"/>
            </a:solidFill>
            <a:effectLst/>
          </c:spPr>
          <c:invertIfNegative val="0"/>
          <c:dPt>
            <c:idx val="0"/>
            <c:invertIfNegative val="0"/>
            <c:bubble3D val="0"/>
            <c:spPr>
              <a:solidFill>
                <a:srgbClr val="2A9D8F"/>
              </a:solidFill>
              <a:effectLst/>
            </c:spPr>
            <c:extLst>
              <c:ext xmlns:c16="http://schemas.microsoft.com/office/drawing/2014/chart" uri="{C3380CC4-5D6E-409C-BE32-E72D297353CC}">
                <c16:uniqueId val="{00000001-8B4B-4DD7-AB9A-385AD6479615}"/>
              </c:ext>
            </c:extLst>
          </c:dPt>
          <c:dPt>
            <c:idx val="1"/>
            <c:invertIfNegative val="0"/>
            <c:bubble3D val="0"/>
            <c:spPr>
              <a:solidFill>
                <a:srgbClr val="264653"/>
              </a:solidFill>
              <a:effectLst/>
            </c:spPr>
            <c:extLst>
              <c:ext xmlns:c16="http://schemas.microsoft.com/office/drawing/2014/chart" uri="{C3380CC4-5D6E-409C-BE32-E72D297353CC}">
                <c16:uniqueId val="{00000003-8B4B-4DD7-AB9A-385AD6479615}"/>
              </c:ext>
            </c:extLst>
          </c:dPt>
          <c:dPt>
            <c:idx val="2"/>
            <c:invertIfNegative val="0"/>
            <c:bubble3D val="0"/>
            <c:spPr>
              <a:solidFill>
                <a:srgbClr val="264653"/>
              </a:solidFill>
              <a:effectLst/>
            </c:spPr>
            <c:extLst>
              <c:ext xmlns:c16="http://schemas.microsoft.com/office/drawing/2014/chart" uri="{C3380CC4-5D6E-409C-BE32-E72D297353CC}">
                <c16:uniqueId val="{00000005-8B4B-4DD7-AB9A-385AD6479615}"/>
              </c:ext>
            </c:extLst>
          </c:dPt>
          <c:dPt>
            <c:idx val="3"/>
            <c:invertIfNegative val="0"/>
            <c:bubble3D val="0"/>
            <c:spPr>
              <a:solidFill>
                <a:srgbClr val="264653"/>
              </a:solidFill>
              <a:effectLst/>
            </c:spPr>
            <c:extLst>
              <c:ext xmlns:c16="http://schemas.microsoft.com/office/drawing/2014/chart" uri="{C3380CC4-5D6E-409C-BE32-E72D297353CC}">
                <c16:uniqueId val="{00000007-8B4B-4DD7-AB9A-385AD6479615}"/>
              </c:ext>
            </c:extLst>
          </c:dPt>
          <c:dPt>
            <c:idx val="4"/>
            <c:invertIfNegative val="0"/>
            <c:bubble3D val="0"/>
            <c:spPr>
              <a:solidFill>
                <a:srgbClr val="264653"/>
              </a:solidFill>
              <a:effectLst/>
            </c:spPr>
            <c:extLst>
              <c:ext xmlns:c16="http://schemas.microsoft.com/office/drawing/2014/chart" uri="{C3380CC4-5D6E-409C-BE32-E72D297353CC}">
                <c16:uniqueId val="{00000009-8B4B-4DD7-AB9A-385AD6479615}"/>
              </c:ext>
            </c:extLst>
          </c:dPt>
          <c:dLbls>
            <c:numFmt formatCode="0.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Indian</c:v>
                </c:pt>
                <c:pt idx="1">
                  <c:v>Mexican</c:v>
                </c:pt>
                <c:pt idx="2">
                  <c:v>Chinese</c:v>
                </c:pt>
                <c:pt idx="3">
                  <c:v>Arabian</c:v>
                </c:pt>
                <c:pt idx="4">
                  <c:v>Italian</c:v>
                </c:pt>
              </c:strCache>
            </c:strRef>
          </c:cat>
          <c:val>
            <c:numRef>
              <c:f>Sheet1!$B$2:$B$6</c:f>
              <c:numCache>
                <c:formatCode>General</c:formatCode>
                <c:ptCount val="5"/>
                <c:pt idx="0">
                  <c:v>28.65</c:v>
                </c:pt>
                <c:pt idx="1">
                  <c:v>28.48</c:v>
                </c:pt>
                <c:pt idx="2">
                  <c:v>28.47</c:v>
                </c:pt>
                <c:pt idx="3">
                  <c:v>28.19</c:v>
                </c:pt>
                <c:pt idx="4">
                  <c:v>28.09</c:v>
                </c:pt>
              </c:numCache>
            </c:numRef>
          </c:val>
          <c:extLst>
            <c:ext xmlns:c16="http://schemas.microsoft.com/office/drawing/2014/chart" uri="{C3380CC4-5D6E-409C-BE32-E72D297353CC}">
              <c16:uniqueId val="{0000000A-8B4B-4DD7-AB9A-385AD6479615}"/>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3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Average delivery time (minutes)</a:t>
            </a:r>
          </a:p>
        </c:rich>
      </c:tx>
      <c:overlay val="0"/>
    </c:title>
    <c:autoTitleDeleted val="0"/>
    <c:plotArea>
      <c:layout/>
      <c:barChart>
        <c:barDir val="bar"/>
        <c:grouping val="clustered"/>
        <c:varyColors val="0"/>
        <c:ser>
          <c:idx val="0"/>
          <c:order val="0"/>
          <c:tx>
            <c:strRef>
              <c:f>Sheet1!$B$1</c:f>
              <c:strCache>
                <c:ptCount val="1"/>
                <c:pt idx="0">
                  <c:v>Average delivery time (minutes)</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2C68-4008-924C-1AD0A528EC2E}"/>
              </c:ext>
            </c:extLst>
          </c:dPt>
          <c:dPt>
            <c:idx val="1"/>
            <c:invertIfNegative val="0"/>
            <c:bubble3D val="0"/>
            <c:extLst>
              <c:ext xmlns:c16="http://schemas.microsoft.com/office/drawing/2014/chart" uri="{C3380CC4-5D6E-409C-BE32-E72D297353CC}">
                <c16:uniqueId val="{00000003-2C68-4008-924C-1AD0A528EC2E}"/>
              </c:ext>
            </c:extLst>
          </c:dPt>
          <c:dPt>
            <c:idx val="2"/>
            <c:invertIfNegative val="0"/>
            <c:bubble3D val="0"/>
            <c:spPr>
              <a:solidFill>
                <a:srgbClr val="E4572E"/>
              </a:solidFill>
              <a:effectLst/>
            </c:spPr>
            <c:extLst>
              <c:ext xmlns:c16="http://schemas.microsoft.com/office/drawing/2014/chart" uri="{C3380CC4-5D6E-409C-BE32-E72D297353CC}">
                <c16:uniqueId val="{00000005-2C68-4008-924C-1AD0A528EC2E}"/>
              </c:ext>
            </c:extLst>
          </c:dPt>
          <c:dPt>
            <c:idx val="3"/>
            <c:invertIfNegative val="0"/>
            <c:bubble3D val="0"/>
            <c:spPr>
              <a:solidFill>
                <a:srgbClr val="E4572E"/>
              </a:solidFill>
              <a:effectLst/>
            </c:spPr>
            <c:extLst>
              <c:ext xmlns:c16="http://schemas.microsoft.com/office/drawing/2014/chart" uri="{C3380CC4-5D6E-409C-BE32-E72D297353CC}">
                <c16:uniqueId val="{00000007-2C68-4008-924C-1AD0A528EC2E}"/>
              </c:ext>
            </c:extLst>
          </c:dPt>
          <c:dPt>
            <c:idx val="4"/>
            <c:invertIfNegative val="0"/>
            <c:bubble3D val="0"/>
            <c:spPr>
              <a:solidFill>
                <a:srgbClr val="E4572E"/>
              </a:solidFill>
              <a:effectLst/>
            </c:spPr>
            <c:extLst>
              <c:ext xmlns:c16="http://schemas.microsoft.com/office/drawing/2014/chart" uri="{C3380CC4-5D6E-409C-BE32-E72D297353CC}">
                <c16:uniqueId val="{00000009-2C68-4008-924C-1AD0A528EC2E}"/>
              </c:ext>
            </c:extLst>
          </c:dPt>
          <c:dLbls>
            <c:numFmt formatCode="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Bangalore</c:v>
                </c:pt>
                <c:pt idx="1">
                  <c:v>Chennai</c:v>
                </c:pt>
                <c:pt idx="2">
                  <c:v>Hyderabad</c:v>
                </c:pt>
                <c:pt idx="3">
                  <c:v>Delhi</c:v>
                </c:pt>
                <c:pt idx="4">
                  <c:v>Mumbai</c:v>
                </c:pt>
              </c:strCache>
            </c:strRef>
          </c:cat>
          <c:val>
            <c:numRef>
              <c:f>Sheet1!$B$2:$B$6</c:f>
              <c:numCache>
                <c:formatCode>General</c:formatCode>
                <c:ptCount val="5"/>
                <c:pt idx="0">
                  <c:v>107.8</c:v>
                </c:pt>
                <c:pt idx="1">
                  <c:v>107.91</c:v>
                </c:pt>
                <c:pt idx="2">
                  <c:v>125.18</c:v>
                </c:pt>
                <c:pt idx="3">
                  <c:v>125.37</c:v>
                </c:pt>
                <c:pt idx="4">
                  <c:v>126.45</c:v>
                </c:pt>
              </c:numCache>
            </c:numRef>
          </c:val>
          <c:extLst>
            <c:ext xmlns:c16="http://schemas.microsoft.com/office/drawing/2014/chart" uri="{C3380CC4-5D6E-409C-BE32-E72D297353CC}">
              <c16:uniqueId val="{0000000A-2C68-4008-924C-1AD0A528EC2E}"/>
            </c:ext>
          </c:extLst>
        </c:ser>
        <c:dLbls>
          <c:showLegendKey val="0"/>
          <c:showVal val="1"/>
          <c:showCatName val="0"/>
          <c:showSerName val="0"/>
          <c:showPercent val="0"/>
          <c:showBubbleSize val="0"/>
        </c:dLbls>
        <c:gapWidth val="55"/>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150"/>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Average delivery time by distance (minutes)</a:t>
            </a:r>
          </a:p>
        </c:rich>
      </c:tx>
      <c:overlay val="0"/>
    </c:title>
    <c:autoTitleDeleted val="0"/>
    <c:plotArea>
      <c:layout/>
      <c:barChart>
        <c:barDir val="col"/>
        <c:grouping val="clustered"/>
        <c:varyColors val="0"/>
        <c:ser>
          <c:idx val="0"/>
          <c:order val="0"/>
          <c:tx>
            <c:strRef>
              <c:f>Sheet1!$B$1</c:f>
              <c:strCache>
                <c:ptCount val="1"/>
                <c:pt idx="0">
                  <c:v>Average delivery time by distance (minutes)</c:v>
                </c:pt>
              </c:strCache>
            </c:strRef>
          </c:tx>
          <c:spPr>
            <a:solidFill>
              <a:srgbClr val="264653"/>
            </a:solidFill>
            <a:effectLst/>
          </c:spPr>
          <c:invertIfNegative val="0"/>
          <c:dPt>
            <c:idx val="0"/>
            <c:invertIfNegative val="0"/>
            <c:bubble3D val="0"/>
            <c:extLst>
              <c:ext xmlns:c16="http://schemas.microsoft.com/office/drawing/2014/chart" uri="{C3380CC4-5D6E-409C-BE32-E72D297353CC}">
                <c16:uniqueId val="{00000001-3F3B-421B-818D-AC3FEE14B856}"/>
              </c:ext>
            </c:extLst>
          </c:dPt>
          <c:dPt>
            <c:idx val="1"/>
            <c:invertIfNegative val="0"/>
            <c:bubble3D val="0"/>
            <c:extLst>
              <c:ext xmlns:c16="http://schemas.microsoft.com/office/drawing/2014/chart" uri="{C3380CC4-5D6E-409C-BE32-E72D297353CC}">
                <c16:uniqueId val="{00000003-3F3B-421B-818D-AC3FEE14B856}"/>
              </c:ext>
            </c:extLst>
          </c:dPt>
          <c:dPt>
            <c:idx val="2"/>
            <c:invertIfNegative val="0"/>
            <c:bubble3D val="0"/>
            <c:spPr>
              <a:solidFill>
                <a:srgbClr val="E4572E"/>
              </a:solidFill>
              <a:effectLst/>
            </c:spPr>
            <c:extLst>
              <c:ext xmlns:c16="http://schemas.microsoft.com/office/drawing/2014/chart" uri="{C3380CC4-5D6E-409C-BE32-E72D297353CC}">
                <c16:uniqueId val="{00000005-3F3B-421B-818D-AC3FEE14B856}"/>
              </c:ext>
            </c:extLst>
          </c:dPt>
          <c:dLbls>
            <c:numFmt formatCode="0.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Short</c:v>
                </c:pt>
                <c:pt idx="1">
                  <c:v>Medium</c:v>
                </c:pt>
                <c:pt idx="2">
                  <c:v>Long</c:v>
                </c:pt>
              </c:strCache>
            </c:strRef>
          </c:cat>
          <c:val>
            <c:numRef>
              <c:f>Sheet1!$B$2:$B$4</c:f>
              <c:numCache>
                <c:formatCode>General</c:formatCode>
                <c:ptCount val="3"/>
                <c:pt idx="0">
                  <c:v>118.98</c:v>
                </c:pt>
                <c:pt idx="1">
                  <c:v>119.22</c:v>
                </c:pt>
                <c:pt idx="2">
                  <c:v>119.95</c:v>
                </c:pt>
              </c:numCache>
            </c:numRef>
          </c:val>
          <c:extLst>
            <c:ext xmlns:c16="http://schemas.microsoft.com/office/drawing/2014/chart" uri="{C3380CC4-5D6E-409C-BE32-E72D297353CC}">
              <c16:uniqueId val="{00000006-3F3B-421B-818D-AC3FEE14B856}"/>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16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Average delivery time (minutes)</a:t>
            </a:r>
          </a:p>
        </c:rich>
      </c:tx>
      <c:overlay val="0"/>
    </c:title>
    <c:autoTitleDeleted val="0"/>
    <c:plotArea>
      <c:layout/>
      <c:barChart>
        <c:barDir val="col"/>
        <c:grouping val="clustered"/>
        <c:varyColors val="0"/>
        <c:ser>
          <c:idx val="0"/>
          <c:order val="0"/>
          <c:tx>
            <c:strRef>
              <c:f>Sheet1!$B$1</c:f>
              <c:strCache>
                <c:ptCount val="1"/>
                <c:pt idx="0">
                  <c:v>Average delivery time (minutes)</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AE15-4C98-B5B4-C9D1AEF453B1}"/>
              </c:ext>
            </c:extLst>
          </c:dPt>
          <c:dPt>
            <c:idx val="1"/>
            <c:invertIfNegative val="0"/>
            <c:bubble3D val="0"/>
            <c:spPr>
              <a:solidFill>
                <a:srgbClr val="264653"/>
              </a:solidFill>
              <a:effectLst/>
            </c:spPr>
            <c:extLst>
              <c:ext xmlns:c16="http://schemas.microsoft.com/office/drawing/2014/chart" uri="{C3380CC4-5D6E-409C-BE32-E72D297353CC}">
                <c16:uniqueId val="{00000003-AE15-4C98-B5B4-C9D1AEF453B1}"/>
              </c:ext>
            </c:extLst>
          </c:dPt>
          <c:dPt>
            <c:idx val="2"/>
            <c:invertIfNegative val="0"/>
            <c:bubble3D val="0"/>
            <c:spPr>
              <a:solidFill>
                <a:srgbClr val="E4572E"/>
              </a:solidFill>
              <a:effectLst/>
            </c:spPr>
            <c:extLst>
              <c:ext xmlns:c16="http://schemas.microsoft.com/office/drawing/2014/chart" uri="{C3380CC4-5D6E-409C-BE32-E72D297353CC}">
                <c16:uniqueId val="{00000005-AE15-4C98-B5B4-C9D1AEF453B1}"/>
              </c:ext>
            </c:extLst>
          </c:dPt>
          <c:dLbls>
            <c:numFmt formatCode="0.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Fast</c:v>
                </c:pt>
                <c:pt idx="1">
                  <c:v>On Time</c:v>
                </c:pt>
                <c:pt idx="2">
                  <c:v>Delayed</c:v>
                </c:pt>
              </c:strCache>
            </c:strRef>
          </c:cat>
          <c:val>
            <c:numRef>
              <c:f>Sheet1!$B$2:$B$4</c:f>
              <c:numCache>
                <c:formatCode>General</c:formatCode>
                <c:ptCount val="3"/>
                <c:pt idx="0">
                  <c:v>25.01</c:v>
                </c:pt>
                <c:pt idx="1">
                  <c:v>38</c:v>
                </c:pt>
                <c:pt idx="2">
                  <c:v>137.61000000000001</c:v>
                </c:pt>
              </c:numCache>
            </c:numRef>
          </c:val>
          <c:extLst>
            <c:ext xmlns:c16="http://schemas.microsoft.com/office/drawing/2014/chart" uri="{C3380CC4-5D6E-409C-BE32-E72D297353CC}">
              <c16:uniqueId val="{00000006-AE15-4C98-B5B4-C9D1AEF453B1}"/>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17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Average delivery rating (out of 5)</a:t>
            </a:r>
          </a:p>
        </c:rich>
      </c:tx>
      <c:overlay val="0"/>
    </c:title>
    <c:autoTitleDeleted val="0"/>
    <c:plotArea>
      <c:layout/>
      <c:barChart>
        <c:barDir val="col"/>
        <c:grouping val="clustered"/>
        <c:varyColors val="0"/>
        <c:ser>
          <c:idx val="0"/>
          <c:order val="0"/>
          <c:tx>
            <c:strRef>
              <c:f>Sheet1!$B$1</c:f>
              <c:strCache>
                <c:ptCount val="1"/>
                <c:pt idx="0">
                  <c:v>Average delivery rating (out of 5)</c:v>
                </c:pt>
              </c:strCache>
            </c:strRef>
          </c:tx>
          <c:spPr>
            <a:solidFill>
              <a:srgbClr val="2A9D8F"/>
            </a:solidFill>
            <a:effectLst/>
          </c:spPr>
          <c:invertIfNegative val="0"/>
          <c:dPt>
            <c:idx val="0"/>
            <c:invertIfNegative val="0"/>
            <c:bubble3D val="0"/>
            <c:extLst>
              <c:ext xmlns:c16="http://schemas.microsoft.com/office/drawing/2014/chart" uri="{C3380CC4-5D6E-409C-BE32-E72D297353CC}">
                <c16:uniqueId val="{00000001-123F-486E-8034-58286A460E30}"/>
              </c:ext>
            </c:extLst>
          </c:dPt>
          <c:dPt>
            <c:idx val="1"/>
            <c:invertIfNegative val="0"/>
            <c:bubble3D val="0"/>
            <c:spPr>
              <a:solidFill>
                <a:srgbClr val="264653"/>
              </a:solidFill>
              <a:effectLst/>
            </c:spPr>
            <c:extLst>
              <c:ext xmlns:c16="http://schemas.microsoft.com/office/drawing/2014/chart" uri="{C3380CC4-5D6E-409C-BE32-E72D297353CC}">
                <c16:uniqueId val="{00000003-123F-486E-8034-58286A460E30}"/>
              </c:ext>
            </c:extLst>
          </c:dPt>
          <c:dPt>
            <c:idx val="2"/>
            <c:invertIfNegative val="0"/>
            <c:bubble3D val="0"/>
            <c:spPr>
              <a:solidFill>
                <a:srgbClr val="E4572E"/>
              </a:solidFill>
              <a:effectLst/>
            </c:spPr>
            <c:extLst>
              <c:ext xmlns:c16="http://schemas.microsoft.com/office/drawing/2014/chart" uri="{C3380CC4-5D6E-409C-BE32-E72D297353CC}">
                <c16:uniqueId val="{00000005-123F-486E-8034-58286A460E30}"/>
              </c:ext>
            </c:extLst>
          </c:dPt>
          <c:dLbls>
            <c:numFmt formatCode="0.00" sourceLinked="0"/>
            <c:spPr>
              <a:noFill/>
              <a:ln>
                <a:noFill/>
              </a:ln>
              <a:effectLst/>
            </c:spPr>
            <c:txPr>
              <a:bodyPr/>
              <a:lstStyle/>
              <a:p>
                <a:pPr>
                  <a:defRPr sz="13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Fast</c:v>
                </c:pt>
                <c:pt idx="1">
                  <c:v>On Time</c:v>
                </c:pt>
                <c:pt idx="2">
                  <c:v>Delayed</c:v>
                </c:pt>
              </c:strCache>
            </c:strRef>
          </c:cat>
          <c:val>
            <c:numRef>
              <c:f>Sheet1!$B$2:$B$4</c:f>
              <c:numCache>
                <c:formatCode>General</c:formatCode>
                <c:ptCount val="3"/>
                <c:pt idx="0">
                  <c:v>3.01</c:v>
                </c:pt>
                <c:pt idx="1">
                  <c:v>2.97</c:v>
                </c:pt>
                <c:pt idx="2">
                  <c:v>3</c:v>
                </c:pt>
              </c:numCache>
            </c:numRef>
          </c:val>
          <c:extLst>
            <c:ext xmlns:c16="http://schemas.microsoft.com/office/drawing/2014/chart" uri="{C3380CC4-5D6E-409C-BE32-E72D297353CC}">
              <c16:uniqueId val="{00000006-123F-486E-8034-58286A460E30}"/>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Average restaurant rating</a:t>
            </a:r>
          </a:p>
        </c:rich>
      </c:tx>
      <c:overlay val="0"/>
    </c:title>
    <c:autoTitleDeleted val="0"/>
    <c:plotArea>
      <c:layout/>
      <c:barChart>
        <c:barDir val="bar"/>
        <c:grouping val="clustered"/>
        <c:varyColors val="0"/>
        <c:ser>
          <c:idx val="0"/>
          <c:order val="0"/>
          <c:tx>
            <c:strRef>
              <c:f>Sheet1!$B$1</c:f>
              <c:strCache>
                <c:ptCount val="1"/>
                <c:pt idx="0">
                  <c:v>Average restaurant rating</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1-1511-4FE7-9102-32B787732567}"/>
              </c:ext>
            </c:extLst>
          </c:dPt>
          <c:dPt>
            <c:idx val="1"/>
            <c:invertIfNegative val="0"/>
            <c:bubble3D val="0"/>
            <c:spPr>
              <a:solidFill>
                <a:srgbClr val="264653"/>
              </a:solidFill>
              <a:effectLst/>
            </c:spPr>
            <c:extLst>
              <c:ext xmlns:c16="http://schemas.microsoft.com/office/drawing/2014/chart" uri="{C3380CC4-5D6E-409C-BE32-E72D297353CC}">
                <c16:uniqueId val="{00000003-1511-4FE7-9102-32B787732567}"/>
              </c:ext>
            </c:extLst>
          </c:dPt>
          <c:dPt>
            <c:idx val="2"/>
            <c:invertIfNegative val="0"/>
            <c:bubble3D val="0"/>
            <c:spPr>
              <a:solidFill>
                <a:srgbClr val="264653"/>
              </a:solidFill>
              <a:effectLst/>
            </c:spPr>
            <c:extLst>
              <c:ext xmlns:c16="http://schemas.microsoft.com/office/drawing/2014/chart" uri="{C3380CC4-5D6E-409C-BE32-E72D297353CC}">
                <c16:uniqueId val="{00000005-1511-4FE7-9102-32B787732567}"/>
              </c:ext>
            </c:extLst>
          </c:dPt>
          <c:dPt>
            <c:idx val="3"/>
            <c:invertIfNegative val="0"/>
            <c:bubble3D val="0"/>
            <c:spPr>
              <a:solidFill>
                <a:srgbClr val="264653"/>
              </a:solidFill>
              <a:effectLst/>
            </c:spPr>
            <c:extLst>
              <c:ext xmlns:c16="http://schemas.microsoft.com/office/drawing/2014/chart" uri="{C3380CC4-5D6E-409C-BE32-E72D297353CC}">
                <c16:uniqueId val="{00000007-1511-4FE7-9102-32B787732567}"/>
              </c:ext>
            </c:extLst>
          </c:dPt>
          <c:dPt>
            <c:idx val="4"/>
            <c:invertIfNegative val="0"/>
            <c:bubble3D val="0"/>
            <c:spPr>
              <a:solidFill>
                <a:srgbClr val="264653"/>
              </a:solidFill>
              <a:effectLst/>
            </c:spPr>
            <c:extLst>
              <c:ext xmlns:c16="http://schemas.microsoft.com/office/drawing/2014/chart" uri="{C3380CC4-5D6E-409C-BE32-E72D297353CC}">
                <c16:uniqueId val="{00000009-1511-4FE7-9102-32B787732567}"/>
              </c:ext>
            </c:extLst>
          </c:dPt>
          <c:dPt>
            <c:idx val="5"/>
            <c:invertIfNegative val="0"/>
            <c:bubble3D val="0"/>
            <c:spPr>
              <a:solidFill>
                <a:srgbClr val="264653"/>
              </a:solidFill>
              <a:effectLst/>
            </c:spPr>
            <c:extLst>
              <c:ext xmlns:c16="http://schemas.microsoft.com/office/drawing/2014/chart" uri="{C3380CC4-5D6E-409C-BE32-E72D297353CC}">
                <c16:uniqueId val="{0000000B-1511-4FE7-9102-32B787732567}"/>
              </c:ext>
            </c:extLst>
          </c:dPt>
          <c:dPt>
            <c:idx val="6"/>
            <c:invertIfNegative val="0"/>
            <c:bubble3D val="0"/>
            <c:spPr>
              <a:solidFill>
                <a:srgbClr val="264653"/>
              </a:solidFill>
              <a:effectLst/>
            </c:spPr>
            <c:extLst>
              <c:ext xmlns:c16="http://schemas.microsoft.com/office/drawing/2014/chart" uri="{C3380CC4-5D6E-409C-BE32-E72D297353CC}">
                <c16:uniqueId val="{0000000D-1511-4FE7-9102-32B787732567}"/>
              </c:ext>
            </c:extLst>
          </c:dPt>
          <c:dPt>
            <c:idx val="7"/>
            <c:invertIfNegative val="0"/>
            <c:bubble3D val="0"/>
            <c:spPr>
              <a:solidFill>
                <a:srgbClr val="264653"/>
              </a:solidFill>
              <a:effectLst/>
            </c:spPr>
            <c:extLst>
              <c:ext xmlns:c16="http://schemas.microsoft.com/office/drawing/2014/chart" uri="{C3380CC4-5D6E-409C-BE32-E72D297353CC}">
                <c16:uniqueId val="{0000000F-1511-4FE7-9102-32B787732567}"/>
              </c:ext>
            </c:extLst>
          </c:dPt>
          <c:dPt>
            <c:idx val="8"/>
            <c:invertIfNegative val="0"/>
            <c:bubble3D val="0"/>
            <c:spPr>
              <a:solidFill>
                <a:srgbClr val="264653"/>
              </a:solidFill>
              <a:effectLst/>
            </c:spPr>
            <c:extLst>
              <c:ext xmlns:c16="http://schemas.microsoft.com/office/drawing/2014/chart" uri="{C3380CC4-5D6E-409C-BE32-E72D297353CC}">
                <c16:uniqueId val="{00000011-1511-4FE7-9102-32B787732567}"/>
              </c:ext>
            </c:extLst>
          </c:dPt>
          <c:dPt>
            <c:idx val="9"/>
            <c:invertIfNegative val="0"/>
            <c:bubble3D val="0"/>
            <c:spPr>
              <a:solidFill>
                <a:srgbClr val="264653"/>
              </a:solidFill>
              <a:effectLst/>
            </c:spPr>
            <c:extLst>
              <c:ext xmlns:c16="http://schemas.microsoft.com/office/drawing/2014/chart" uri="{C3380CC4-5D6E-409C-BE32-E72D297353CC}">
                <c16:uniqueId val="{00000013-1511-4FE7-9102-32B787732567}"/>
              </c:ext>
            </c:extLst>
          </c:dPt>
          <c:dLbls>
            <c:numFmt formatCode="0.00" sourceLinked="0"/>
            <c:spPr>
              <a:noFill/>
              <a:ln>
                <a:noFill/>
              </a:ln>
              <a:effectLst/>
            </c:spPr>
            <c:txPr>
              <a:bodyPr/>
              <a:lstStyle/>
              <a:p>
                <a:pPr>
                  <a:defRPr sz="12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Restaurant_101</c:v>
                </c:pt>
                <c:pt idx="1">
                  <c:v>Restaurant_162</c:v>
                </c:pt>
                <c:pt idx="2">
                  <c:v>Restaurant_1</c:v>
                </c:pt>
                <c:pt idx="3">
                  <c:v>Restaurant_481</c:v>
                </c:pt>
                <c:pt idx="4">
                  <c:v>Restaurant_209</c:v>
                </c:pt>
                <c:pt idx="5">
                  <c:v>Restaurant_496</c:v>
                </c:pt>
                <c:pt idx="6">
                  <c:v>Restaurant_355</c:v>
                </c:pt>
                <c:pt idx="7">
                  <c:v>Restaurant_318</c:v>
                </c:pt>
                <c:pt idx="8">
                  <c:v>Restaurant_403</c:v>
                </c:pt>
                <c:pt idx="9">
                  <c:v>Restaurant_392</c:v>
                </c:pt>
              </c:strCache>
            </c:strRef>
          </c:cat>
          <c:val>
            <c:numRef>
              <c:f>Sheet1!$B$2:$B$11</c:f>
              <c:numCache>
                <c:formatCode>General</c:formatCode>
                <c:ptCount val="10"/>
                <c:pt idx="0">
                  <c:v>4.33</c:v>
                </c:pt>
                <c:pt idx="1">
                  <c:v>4.3099999999999996</c:v>
                </c:pt>
                <c:pt idx="2">
                  <c:v>4.3099999999999996</c:v>
                </c:pt>
                <c:pt idx="3">
                  <c:v>4.3</c:v>
                </c:pt>
                <c:pt idx="4">
                  <c:v>4.3</c:v>
                </c:pt>
                <c:pt idx="5">
                  <c:v>4.3</c:v>
                </c:pt>
                <c:pt idx="6">
                  <c:v>4.3</c:v>
                </c:pt>
                <c:pt idx="7">
                  <c:v>4.29</c:v>
                </c:pt>
                <c:pt idx="8">
                  <c:v>4.29</c:v>
                </c:pt>
                <c:pt idx="9">
                  <c:v>4.29</c:v>
                </c:pt>
              </c:numCache>
            </c:numRef>
          </c:val>
          <c:extLst>
            <c:ext xmlns:c16="http://schemas.microsoft.com/office/drawing/2014/chart" uri="{C3380CC4-5D6E-409C-BE32-E72D297353CC}">
              <c16:uniqueId val="{00000014-1511-4FE7-9102-32B787732567}"/>
            </c:ext>
          </c:extLst>
        </c:ser>
        <c:dLbls>
          <c:showLegendKey val="0"/>
          <c:showVal val="1"/>
          <c:showCatName val="0"/>
          <c:showSerName val="0"/>
          <c:showPercent val="0"/>
          <c:showBubbleSize val="0"/>
        </c:dLbls>
        <c:gapWidth val="4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5.4"/>
          <c:min val="0"/>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GB" sz="1400" b="0" i="0" u="none" strike="noStrike">
                <a:solidFill>
                  <a:srgbClr val="231F20"/>
                </a:solidFill>
                <a:latin typeface="+mn-lt"/>
              </a:rPr>
              <a:t>Cancellation rate, top 10 restaurants</a:t>
            </a:r>
          </a:p>
        </c:rich>
      </c:tx>
      <c:overlay val="0"/>
    </c:title>
    <c:autoTitleDeleted val="0"/>
    <c:plotArea>
      <c:layout/>
      <c:barChart>
        <c:barDir val="col"/>
        <c:grouping val="clustered"/>
        <c:varyColors val="0"/>
        <c:ser>
          <c:idx val="0"/>
          <c:order val="0"/>
          <c:tx>
            <c:strRef>
              <c:f>Sheet1!$B$1</c:f>
              <c:strCache>
                <c:ptCount val="1"/>
                <c:pt idx="0">
                  <c:v>Cancellation rate, top 10 restaurants</c:v>
                </c:pt>
              </c:strCache>
            </c:strRef>
          </c:tx>
          <c:spPr>
            <a:solidFill>
              <a:srgbClr val="E4572E"/>
            </a:solidFill>
            <a:effectLst/>
          </c:spPr>
          <c:invertIfNegative val="0"/>
          <c:dPt>
            <c:idx val="0"/>
            <c:invertIfNegative val="0"/>
            <c:bubble3D val="0"/>
            <c:extLst>
              <c:ext xmlns:c16="http://schemas.microsoft.com/office/drawing/2014/chart" uri="{C3380CC4-5D6E-409C-BE32-E72D297353CC}">
                <c16:uniqueId val="{00000001-04E8-4650-A8A7-B0BFD85C8E2B}"/>
              </c:ext>
            </c:extLst>
          </c:dPt>
          <c:dPt>
            <c:idx val="1"/>
            <c:invertIfNegative val="0"/>
            <c:bubble3D val="0"/>
            <c:spPr>
              <a:solidFill>
                <a:srgbClr val="264653"/>
              </a:solidFill>
              <a:effectLst/>
            </c:spPr>
            <c:extLst>
              <c:ext xmlns:c16="http://schemas.microsoft.com/office/drawing/2014/chart" uri="{C3380CC4-5D6E-409C-BE32-E72D297353CC}">
                <c16:uniqueId val="{00000003-04E8-4650-A8A7-B0BFD85C8E2B}"/>
              </c:ext>
            </c:extLst>
          </c:dPt>
          <c:dPt>
            <c:idx val="2"/>
            <c:invertIfNegative val="0"/>
            <c:bubble3D val="0"/>
            <c:spPr>
              <a:solidFill>
                <a:srgbClr val="264653"/>
              </a:solidFill>
              <a:effectLst/>
            </c:spPr>
            <c:extLst>
              <c:ext xmlns:c16="http://schemas.microsoft.com/office/drawing/2014/chart" uri="{C3380CC4-5D6E-409C-BE32-E72D297353CC}">
                <c16:uniqueId val="{00000005-04E8-4650-A8A7-B0BFD85C8E2B}"/>
              </c:ext>
            </c:extLst>
          </c:dPt>
          <c:dPt>
            <c:idx val="3"/>
            <c:invertIfNegative val="0"/>
            <c:bubble3D val="0"/>
            <c:spPr>
              <a:solidFill>
                <a:srgbClr val="264653"/>
              </a:solidFill>
              <a:effectLst/>
            </c:spPr>
            <c:extLst>
              <c:ext xmlns:c16="http://schemas.microsoft.com/office/drawing/2014/chart" uri="{C3380CC4-5D6E-409C-BE32-E72D297353CC}">
                <c16:uniqueId val="{00000007-04E8-4650-A8A7-B0BFD85C8E2B}"/>
              </c:ext>
            </c:extLst>
          </c:dPt>
          <c:dPt>
            <c:idx val="4"/>
            <c:invertIfNegative val="0"/>
            <c:bubble3D val="0"/>
            <c:spPr>
              <a:solidFill>
                <a:srgbClr val="264653"/>
              </a:solidFill>
              <a:effectLst/>
            </c:spPr>
            <c:extLst>
              <c:ext xmlns:c16="http://schemas.microsoft.com/office/drawing/2014/chart" uri="{C3380CC4-5D6E-409C-BE32-E72D297353CC}">
                <c16:uniqueId val="{00000009-04E8-4650-A8A7-B0BFD85C8E2B}"/>
              </c:ext>
            </c:extLst>
          </c:dPt>
          <c:dPt>
            <c:idx val="5"/>
            <c:invertIfNegative val="0"/>
            <c:bubble3D val="0"/>
            <c:spPr>
              <a:solidFill>
                <a:srgbClr val="264653"/>
              </a:solidFill>
              <a:effectLst/>
            </c:spPr>
            <c:extLst>
              <c:ext xmlns:c16="http://schemas.microsoft.com/office/drawing/2014/chart" uri="{C3380CC4-5D6E-409C-BE32-E72D297353CC}">
                <c16:uniqueId val="{0000000B-04E8-4650-A8A7-B0BFD85C8E2B}"/>
              </c:ext>
            </c:extLst>
          </c:dPt>
          <c:dPt>
            <c:idx val="6"/>
            <c:invertIfNegative val="0"/>
            <c:bubble3D val="0"/>
            <c:spPr>
              <a:solidFill>
                <a:srgbClr val="264653"/>
              </a:solidFill>
              <a:effectLst/>
            </c:spPr>
            <c:extLst>
              <c:ext xmlns:c16="http://schemas.microsoft.com/office/drawing/2014/chart" uri="{C3380CC4-5D6E-409C-BE32-E72D297353CC}">
                <c16:uniqueId val="{0000000D-04E8-4650-A8A7-B0BFD85C8E2B}"/>
              </c:ext>
            </c:extLst>
          </c:dPt>
          <c:dPt>
            <c:idx val="7"/>
            <c:invertIfNegative val="0"/>
            <c:bubble3D val="0"/>
            <c:spPr>
              <a:solidFill>
                <a:srgbClr val="264653"/>
              </a:solidFill>
              <a:effectLst/>
            </c:spPr>
            <c:extLst>
              <c:ext xmlns:c16="http://schemas.microsoft.com/office/drawing/2014/chart" uri="{C3380CC4-5D6E-409C-BE32-E72D297353CC}">
                <c16:uniqueId val="{0000000F-04E8-4650-A8A7-B0BFD85C8E2B}"/>
              </c:ext>
            </c:extLst>
          </c:dPt>
          <c:dPt>
            <c:idx val="8"/>
            <c:invertIfNegative val="0"/>
            <c:bubble3D val="0"/>
            <c:spPr>
              <a:solidFill>
                <a:srgbClr val="264653"/>
              </a:solidFill>
              <a:effectLst/>
            </c:spPr>
            <c:extLst>
              <c:ext xmlns:c16="http://schemas.microsoft.com/office/drawing/2014/chart" uri="{C3380CC4-5D6E-409C-BE32-E72D297353CC}">
                <c16:uniqueId val="{00000011-04E8-4650-A8A7-B0BFD85C8E2B}"/>
              </c:ext>
            </c:extLst>
          </c:dPt>
          <c:dPt>
            <c:idx val="9"/>
            <c:invertIfNegative val="0"/>
            <c:bubble3D val="0"/>
            <c:spPr>
              <a:solidFill>
                <a:srgbClr val="264653"/>
              </a:solidFill>
              <a:effectLst/>
            </c:spPr>
            <c:extLst>
              <c:ext xmlns:c16="http://schemas.microsoft.com/office/drawing/2014/chart" uri="{C3380CC4-5D6E-409C-BE32-E72D297353CC}">
                <c16:uniqueId val="{00000013-04E8-4650-A8A7-B0BFD85C8E2B}"/>
              </c:ext>
            </c:extLst>
          </c:dPt>
          <c:dLbls>
            <c:numFmt formatCode="0.0%" sourceLinked="0"/>
            <c:spPr>
              <a:noFill/>
              <a:ln>
                <a:noFill/>
              </a:ln>
              <a:effectLst/>
            </c:spPr>
            <c:txPr>
              <a:bodyPr/>
              <a:lstStyle/>
              <a:p>
                <a:pPr>
                  <a:defRPr sz="1200" b="1" i="0" u="none" strike="noStrike">
                    <a:solidFill>
                      <a:srgbClr val="231F20"/>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Sheet1!$A$2:$A$11</c:f>
              <c:strCache>
                <c:ptCount val="10"/>
                <c:pt idx="0">
                  <c:v>#391</c:v>
                </c:pt>
                <c:pt idx="1">
                  <c:v>#390</c:v>
                </c:pt>
                <c:pt idx="2">
                  <c:v>#477</c:v>
                </c:pt>
                <c:pt idx="3">
                  <c:v>#202</c:v>
                </c:pt>
                <c:pt idx="4">
                  <c:v>#373</c:v>
                </c:pt>
                <c:pt idx="5">
                  <c:v>#426</c:v>
                </c:pt>
                <c:pt idx="6">
                  <c:v>#299</c:v>
                </c:pt>
                <c:pt idx="7">
                  <c:v>#455</c:v>
                </c:pt>
                <c:pt idx="8">
                  <c:v>#113</c:v>
                </c:pt>
                <c:pt idx="9">
                  <c:v>#232</c:v>
                </c:pt>
              </c:strCache>
            </c:strRef>
          </c:cat>
          <c:val>
            <c:numRef>
              <c:f>Sheet1!$B$2:$B$11</c:f>
              <c:numCache>
                <c:formatCode>General</c:formatCode>
                <c:ptCount val="10"/>
                <c:pt idx="0">
                  <c:v>0.21940000000000001</c:v>
                </c:pt>
                <c:pt idx="1">
                  <c:v>0.21890000000000001</c:v>
                </c:pt>
                <c:pt idx="2">
                  <c:v>0.21590000000000001</c:v>
                </c:pt>
                <c:pt idx="3">
                  <c:v>0.2157</c:v>
                </c:pt>
                <c:pt idx="4">
                  <c:v>0.2147</c:v>
                </c:pt>
                <c:pt idx="5">
                  <c:v>0.21229999999999999</c:v>
                </c:pt>
                <c:pt idx="6">
                  <c:v>0.21129999999999999</c:v>
                </c:pt>
                <c:pt idx="7">
                  <c:v>0.21110000000000001</c:v>
                </c:pt>
                <c:pt idx="8">
                  <c:v>0.20979999999999999</c:v>
                </c:pt>
                <c:pt idx="9">
                  <c:v>0.20899999999999999</c:v>
                </c:pt>
              </c:numCache>
            </c:numRef>
          </c:val>
          <c:extLst>
            <c:ext xmlns:c16="http://schemas.microsoft.com/office/drawing/2014/chart" uri="{C3380CC4-5D6E-409C-BE32-E72D297353CC}">
              <c16:uniqueId val="{00000014-04E8-4650-A8A7-B0BFD85C8E2B}"/>
            </c:ext>
          </c:extLst>
        </c:ser>
        <c:dLbls>
          <c:showLegendKey val="0"/>
          <c:showVal val="1"/>
          <c:showCatName val="0"/>
          <c:showSerName val="0"/>
          <c:showPercent val="0"/>
          <c:showBubbleSize val="0"/>
        </c:dLbls>
        <c:gapWidth val="55"/>
        <c:axId val="2094734554"/>
        <c:axId val="2094734552"/>
      </c:barChart>
      <c:catAx>
        <c:axId val="2094734554"/>
        <c:scaling>
          <c:orientation val="minMax"/>
        </c:scaling>
        <c:delete val="0"/>
        <c:axPos val="b"/>
        <c:title>
          <c:tx>
            <c:rich>
              <a:bodyPr/>
              <a:lstStyle/>
              <a:p>
                <a:pPr>
                  <a:defRPr sz="1200" b="0" i="0" u="none" strike="noStrike">
                    <a:solidFill>
                      <a:srgbClr val="5F6670"/>
                    </a:solidFill>
                    <a:latin typeface="Arial"/>
                  </a:defRPr>
                </a:pPr>
                <a:r>
                  <a:rPr lang="en-IN" sz="1200" b="0" i="0" u="none" strike="noStrike">
                    <a:solidFill>
                      <a:srgbClr val="5F6670"/>
                    </a:solidFill>
                    <a:latin typeface="Arial"/>
                  </a:rPr>
                  <a:t>Restaurant ID (Restaurant_N)</a:t>
                </a:r>
              </a:p>
            </c:rich>
          </c:tx>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F6670"/>
                </a:solidFill>
                <a:latin typeface="+mn-lt"/>
              </a:defRPr>
            </a:pPr>
            <a:endParaRPr lang="en-US"/>
          </a:p>
        </c:txPr>
        <c:crossAx val="2094734552"/>
        <c:crosses val="autoZero"/>
        <c:auto val="1"/>
        <c:lblAlgn val="ctr"/>
        <c:lblOffset val="100"/>
        <c:noMultiLvlLbl val="1"/>
      </c:catAx>
      <c:valAx>
        <c:axId val="2094734552"/>
        <c:scaling>
          <c:orientation val="minMax"/>
          <c:max val="0.27"/>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1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231F20"/>
                </a:solidFill>
                <a:latin typeface="+mn-lt"/>
              </a:defRPr>
            </a:pPr>
            <a:r>
              <a:rPr lang="en-IN" sz="1400" b="0" i="0" u="none" strike="noStrike">
                <a:solidFill>
                  <a:srgbClr val="231F20"/>
                </a:solidFill>
                <a:latin typeface="+mn-lt"/>
              </a:rPr>
              <a:t>Cancelled orders by reason</a:t>
            </a:r>
          </a:p>
        </c:rich>
      </c:tx>
      <c:overlay val="0"/>
    </c:title>
    <c:autoTitleDeleted val="0"/>
    <c:plotArea>
      <c:layout/>
      <c:doughnutChart>
        <c:varyColors val="1"/>
        <c:ser>
          <c:idx val="0"/>
          <c:order val="0"/>
          <c:tx>
            <c:strRef>
              <c:f>Sheet1!$B$1</c:f>
              <c:strCache>
                <c:ptCount val="1"/>
                <c:pt idx="0">
                  <c:v>Cancelled orders</c:v>
                </c:pt>
              </c:strCache>
            </c:strRef>
          </c:tx>
          <c:spPr>
            <a:solidFill>
              <a:schemeClr val="accent1"/>
            </a:solidFill>
            <a:ln w="9525" cap="flat">
              <a:solidFill>
                <a:srgbClr val="F9F9F9"/>
              </a:solidFill>
              <a:prstDash val="solid"/>
              <a:round/>
            </a:ln>
            <a:effectLst/>
          </c:spPr>
          <c:dPt>
            <c:idx val="0"/>
            <c:bubble3D val="0"/>
            <c:spPr>
              <a:solidFill>
                <a:srgbClr val="7C8693"/>
              </a:solidFill>
              <a:effectLst/>
            </c:spPr>
            <c:extLst>
              <c:ext xmlns:c16="http://schemas.microsoft.com/office/drawing/2014/chart" uri="{C3380CC4-5D6E-409C-BE32-E72D297353CC}">
                <c16:uniqueId val="{00000001-F69D-40D5-959E-8862B7D8AE63}"/>
              </c:ext>
            </c:extLst>
          </c:dPt>
          <c:dPt>
            <c:idx val="1"/>
            <c:bubble3D val="0"/>
            <c:spPr>
              <a:solidFill>
                <a:srgbClr val="E4572E"/>
              </a:solidFill>
              <a:effectLst/>
            </c:spPr>
            <c:extLst>
              <c:ext xmlns:c16="http://schemas.microsoft.com/office/drawing/2014/chart" uri="{C3380CC4-5D6E-409C-BE32-E72D297353CC}">
                <c16:uniqueId val="{00000003-F69D-40D5-959E-8862B7D8AE63}"/>
              </c:ext>
            </c:extLst>
          </c:dPt>
          <c:dPt>
            <c:idx val="2"/>
            <c:bubble3D val="0"/>
            <c:spPr>
              <a:solidFill>
                <a:srgbClr val="264653"/>
              </a:solidFill>
              <a:effectLst/>
            </c:spPr>
            <c:extLst>
              <c:ext xmlns:c16="http://schemas.microsoft.com/office/drawing/2014/chart" uri="{C3380CC4-5D6E-409C-BE32-E72D297353CC}">
                <c16:uniqueId val="{00000005-F69D-40D5-959E-8862B7D8AE63}"/>
              </c:ext>
            </c:extLst>
          </c:dPt>
          <c:dPt>
            <c:idx val="3"/>
            <c:bubble3D val="0"/>
            <c:spPr>
              <a:solidFill>
                <a:srgbClr val="2A9D8F"/>
              </a:solidFill>
              <a:effectLst/>
            </c:spPr>
            <c:extLst>
              <c:ext xmlns:c16="http://schemas.microsoft.com/office/drawing/2014/chart" uri="{C3380CC4-5D6E-409C-BE32-E72D297353CC}">
                <c16:uniqueId val="{00000007-F69D-40D5-959E-8862B7D8AE63}"/>
              </c:ext>
            </c:extLst>
          </c:dPt>
          <c:dLbls>
            <c:dLbl>
              <c:idx val="0"/>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F69D-40D5-959E-8862B7D8AE63}"/>
                </c:ext>
              </c:extLst>
            </c:dLbl>
            <c:dLbl>
              <c:idx val="1"/>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F69D-40D5-959E-8862B7D8AE63}"/>
                </c:ext>
              </c:extLst>
            </c:dLbl>
            <c:dLbl>
              <c:idx val="2"/>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F69D-40D5-959E-8862B7D8AE63}"/>
                </c:ext>
              </c:extLst>
            </c:dLbl>
            <c:dLbl>
              <c:idx val="3"/>
              <c:numFmt formatCode="0%" sourceLinked="0"/>
              <c:spPr/>
              <c:txPr>
                <a:bodyPr/>
                <a:lstStyle/>
                <a:p>
                  <a:pPr>
                    <a:defRPr sz="1600" b="1" i="0" u="none" strike="noStrike">
                      <a:solidFill>
                        <a:srgbClr val="FFFFFF"/>
                      </a:solidFill>
                      <a:latin typeface="+mn-lt"/>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F69D-40D5-959E-8862B7D8AE63}"/>
                </c:ext>
              </c:extLst>
            </c:dLbl>
            <c:numFmt formatCode="0%"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Not Specified</c:v>
                </c:pt>
                <c:pt idx="1">
                  <c:v>Late Delivery</c:v>
                </c:pt>
                <c:pt idx="2">
                  <c:v>Customer Cancelled</c:v>
                </c:pt>
                <c:pt idx="3">
                  <c:v>Restaurant Issue</c:v>
                </c:pt>
              </c:strCache>
            </c:strRef>
          </c:cat>
          <c:val>
            <c:numRef>
              <c:f>Sheet1!$B$2:$B$5</c:f>
              <c:numCache>
                <c:formatCode>General</c:formatCode>
                <c:ptCount val="4"/>
                <c:pt idx="0">
                  <c:v>6005</c:v>
                </c:pt>
                <c:pt idx="1">
                  <c:v>3059</c:v>
                </c:pt>
                <c:pt idx="2">
                  <c:v>2993</c:v>
                </c:pt>
                <c:pt idx="3">
                  <c:v>2979</c:v>
                </c:pt>
              </c:numCache>
            </c:numRef>
          </c:val>
          <c:extLst>
            <c:ext xmlns:c16="http://schemas.microsoft.com/office/drawing/2014/chart" uri="{C3380CC4-5D6E-409C-BE32-E72D297353CC}">
              <c16:uniqueId val="{00000008-F69D-40D5-959E-8862B7D8AE63}"/>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300">
              <a:solidFill>
                <a:srgbClr val="231F20"/>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34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an analysis of 100,000 online food delivery orders covering customers, revenue, delivery performance, restaurants and cancellations. Tip: the agenda on the next slide is clickable.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navigate. Click a topic to jump to it; every content slide has a menu at the top right to return here or switch section.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CUST5267 had the highest total delivered-order spending (48,727). The top five range from about 43K to 49K. This ranks customers by total spending, not by average order size.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order value: 25 to 35 highest at 1,799.14; 36 to 50 lowest at 1,779.14. The gap is only 20, roughly 1.1%, so age is not a strong driver of order value. The axis starts at zero on purpose so the gap is not exaggerated.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71,632 orders on weekdays and 28,368 on weekends. Divided by 5 weekdays and 2 weekend days, that is about 14,326 versus 14,184 orders per day, so demand per day barely changes.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Off-peak 33,585, peak 33,453, unknown 32,962. Peak and off-peak differ by only 0.4%. A third of orders are tagged Unknown, so peak-hour tagging should be fixed before it is used for staffing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Card 20,094; Wallet 20,086; COD 19,977; UPI 19,932. Card leads UPI by only 162 orders, so no single mode dominates. The chart covers 80,089 orders.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Monthly revenue sits between 13.5M and 14.6M for eleven months. July reaches 16.44M, about 17% above the average of the other months (14.04M). Worth checking what drove it: a promotion, a season, or a data issue.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profit is about 15% at every discount level. The lowest is the 200 to 249 bucket at 14.1% and the highest is 250 to 299 at 15.4%, a spread of 1.3 points with no clear trend. Discount size alone does not explain profit.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Bangalore leads cities with 28.79M, about 2.3% ahead of fifth-placed Mumbai (28.15M). Indian leads cuisines with 28.65M, about 2.0% ahead of Italian (28.09M). Differences are small, so no city or cuisine is a clear outlier.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Highest revenue: Indian, 1,717.31. Highest orders: Indian, 16,685. Highest average rating: Italian, 4.21 out of 5. Lowest revenue: Arabian, 1,692.05. Indian cuisine leads in both order volume and revenue while Italian has the highest average restaurant rating. The differences across cuisines are small.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Bangalore 107.8 and Chennai 107.9 minutes versus Hyderabad 125.2, Delhi 125.4 and Mumbai 126.5. The three slower cities average about 125.7 minutes against 107.9, roughly 18 minutes or 16% longer.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Average delivery time is 118.98 minutes for short, 119.22 for medium and 119.95 for long distances. The scatter plot explains why the relationship is flat: distances bunch at about 16.5 km and delivery times stack at about 70 and 120 minutes, which suggests filled-in or capped values. Worth re-checking in the cleaning step.</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 orders average 25.01 minutes, on-time 38.0 and delayed 137.61. The average delivery rating is 3.01, 2.97 and 3.00, so ratings do not reflect delivery speed in this data. The original single chart hid the rating bars because the two measures sit on very different scales, so they are shown separately here.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Restaurant_101 leads with 4.33, followed by Restaurant_162 and Restaurant_1 at 4.31. The tenth restaurant is at 4.29, so all ten sit within 0.04 points of each other on a 5-point scale.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ten highest cancellation rates run from 20.9% to 21.9%, led by Restaurant_391 at 21.94%. Overall, 15,036 of 100,000 orders were cancelled (about 15%, see the next slide), so these restaurants are about 6 points above average.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6,005 cancellations are Not Specified (40%). Late delivery accounts for 3,059, customer cancelled 2,993 and restaurant issue 2,979, each about 20%. In total 15,036 orders were cancelled, about 15% of 100,000. Capturing a reason at cancellation time would show what to fix.</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the five findings, then the four next steps. Demand and revenue are stable, so the biggest opportunities are in delivery times for three cities and in capturing cancellation reasons and cleaner data.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Invite questions. Use the Back to agenda button to jump to any topic.</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2B1A14"/>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6949440" cy="173736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
        <p:nvSpPr>
          <p:cNvPr id="3" name="Text 0"/>
          <p:cNvSpPr>
            <a:spLocks noGrp="1"/>
          </p:cNvSpPr>
          <p:nvPr>
            <p:ph type="body" idx="101" hasCustomPrompt="1"/>
          </p:nvPr>
        </p:nvSpPr>
        <p:spPr>
          <a:xfrm>
            <a:off x="731520" y="4023360"/>
            <a:ext cx="6949440" cy="548640"/>
          </a:xfrm>
          <a:prstGeom prst="rect">
            <a:avLst/>
          </a:prstGeom>
          <a:noFill/>
          <a:ln/>
        </p:spPr>
        <p:txBody>
          <a:bodyPr wrap="square" rtlCol="0"/>
          <a:lstStyle>
            <a:lvl1pPr marL="0" indent="0">
              <a:buNone/>
              <a:defRPr lang="en-US" sz="2400" dirty="0">
                <a:solidFill>
                  <a:schemeClr val="bg2"/>
                </a:solidFill>
              </a:defRPr>
            </a:lvl1pPr>
          </a:lstStyle>
          <a:p>
            <a:pPr marL="0" indent="0">
              <a:buNone/>
            </a:pPr>
            <a:endParaRPr lang="en-US" sz="2400" dirty="0"/>
          </a:p>
        </p:txBody>
      </p:sp>
      <p:sp>
        <p:nvSpPr>
          <p:cNvPr id="4" name="Text 0"/>
          <p:cNvSpPr>
            <a:spLocks noGrp="1"/>
          </p:cNvSpPr>
          <p:nvPr>
            <p:ph type="body" idx="102" hasCustomPrompt="1"/>
          </p:nvPr>
        </p:nvSpPr>
        <p:spPr>
          <a:xfrm>
            <a:off x="731520" y="4846320"/>
            <a:ext cx="6949440" cy="457200"/>
          </a:xfrm>
          <a:prstGeom prst="rect">
            <a:avLst/>
          </a:prstGeom>
          <a:noFill/>
          <a:ln/>
        </p:spPr>
        <p:txBody>
          <a:bodyPr wrap="square" rtlCol="0"/>
          <a:lstStyle>
            <a:lvl1pPr marL="0" indent="0">
              <a:buNone/>
              <a:defRPr lang="en-US" sz="1800" b="1" dirty="0">
                <a:solidFill>
                  <a:schemeClr val="accent3"/>
                </a:solidFill>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6419088"/>
            <a:ext cx="5486400" cy="274320"/>
          </a:xfrm>
          <a:prstGeom prst="rect">
            <a:avLst/>
          </a:prstGeom>
          <a:noFill/>
          <a:ln/>
        </p:spPr>
        <p:txBody>
          <a:bodyPr wrap="square" lIns="0" tIns="0" rIns="0" bIns="0" rtlCol="0" anchor="ctr"/>
          <a:lstStyle/>
          <a:p>
            <a:pPr marL="0" indent="0">
              <a:buNone/>
            </a:pPr>
            <a:r>
              <a:rPr lang="en-US" sz="1000" dirty="0">
                <a:solidFill>
                  <a:schemeClr val="accent5"/>
                </a:solidFill>
              </a:rPr>
              <a:t>Food Delivery Analysis  |  Janani</a:t>
            </a:r>
            <a:endParaRPr lang="en-US" sz="1000" dirty="0"/>
          </a:p>
        </p:txBody>
      </p:sp>
      <p:sp>
        <p:nvSpPr>
          <p:cNvPr id="3" name="Text 1"/>
          <p:cNvSpPr>
            <a:spLocks noGrp="1"/>
          </p:cNvSpPr>
          <p:nvPr>
            <p:ph type="title" idx="101" hasCustomPrompt="1"/>
          </p:nvPr>
        </p:nvSpPr>
        <p:spPr>
          <a:xfrm>
            <a:off x="548640" y="731520"/>
            <a:ext cx="11091672" cy="731520"/>
          </a:xfrm>
          <a:prstGeom prst="rect">
            <a:avLst/>
          </a:prstGeom>
          <a:noFill/>
          <a:ln/>
        </p:spPr>
        <p:txBody>
          <a:bodyPr wrap="square" rtlCol="0"/>
          <a:lstStyle>
            <a:lvl1pPr marL="0" indent="0" algn="l">
              <a:buNone/>
              <a:defRPr lang="en-US" sz="3600" b="1" dirty="0">
                <a:solidFill>
                  <a:schemeClr val="tx1"/>
                </a:solidFill>
              </a:defRPr>
            </a:lvl1pPr>
          </a:lstStyle>
          <a:p>
            <a:pPr marL="0" indent="0" algn="l">
              <a:buNone/>
            </a:pPr>
            <a:endParaRPr lang="en-US" sz="3600" dirty="0"/>
          </a:p>
        </p:txBody>
      </p:sp>
      <p:sp>
        <p:nvSpPr>
          <p:cNvPr id="4" name="Text 1"/>
          <p:cNvSpPr>
            <a:spLocks noGrp="1"/>
          </p:cNvSpPr>
          <p:nvPr>
            <p:ph type="body" idx="102" hasCustomPrompt="1"/>
          </p:nvPr>
        </p:nvSpPr>
        <p:spPr>
          <a:xfrm>
            <a:off x="548640" y="1481328"/>
            <a:ext cx="11091672" cy="566928"/>
          </a:xfrm>
          <a:prstGeom prst="rect">
            <a:avLst/>
          </a:prstGeom>
          <a:noFill/>
          <a:ln/>
        </p:spPr>
        <p:txBody>
          <a:bodyPr wrap="square" rtlCol="0"/>
          <a:lstStyle>
            <a:lvl1pPr marL="0" indent="0">
              <a:buNone/>
              <a:defRPr lang="en-US" sz="1800" dirty="0">
                <a:solidFill>
                  <a:schemeClr val="accent5"/>
                </a:solidFill>
              </a:defRPr>
            </a:lvl1pPr>
          </a:lstStyle>
          <a:p>
            <a:pPr marL="0" indent="0">
              <a:buNone/>
            </a:pPr>
            <a:endParaRPr lang="en-US" sz="18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slide" Target="slide7.xml"/><Relationship Id="rId13" Type="http://schemas.openxmlformats.org/officeDocument/2006/relationships/slide" Target="slide11.xml"/><Relationship Id="rId18" Type="http://schemas.openxmlformats.org/officeDocument/2006/relationships/image" Target="../media/image6.png"/><Relationship Id="rId3" Type="http://schemas.openxmlformats.org/officeDocument/2006/relationships/image" Target="../media/image4.png"/><Relationship Id="rId21" Type="http://schemas.openxmlformats.org/officeDocument/2006/relationships/slide" Target="slide17.xml"/><Relationship Id="rId7" Type="http://schemas.openxmlformats.org/officeDocument/2006/relationships/slide" Target="slide6.xml"/><Relationship Id="rId12" Type="http://schemas.openxmlformats.org/officeDocument/2006/relationships/slide" Target="slide10.xml"/><Relationship Id="rId17" Type="http://schemas.openxmlformats.org/officeDocument/2006/relationships/slide" Target="slide14.xml"/><Relationship Id="rId2" Type="http://schemas.openxmlformats.org/officeDocument/2006/relationships/notesSlide" Target="../notesSlides/notesSlide2.xml"/><Relationship Id="rId16" Type="http://schemas.openxmlformats.org/officeDocument/2006/relationships/slide" Target="slide13.xml"/><Relationship Id="rId20" Type="http://schemas.openxmlformats.org/officeDocument/2006/relationships/slide" Target="slide16.xml"/><Relationship Id="rId1" Type="http://schemas.openxmlformats.org/officeDocument/2006/relationships/slideLayout" Target="../slideLayouts/slideLayout3.xml"/><Relationship Id="rId6" Type="http://schemas.openxmlformats.org/officeDocument/2006/relationships/slide" Target="slide5.xml"/><Relationship Id="rId11" Type="http://schemas.openxmlformats.org/officeDocument/2006/relationships/slide" Target="slide9.xml"/><Relationship Id="rId5" Type="http://schemas.openxmlformats.org/officeDocument/2006/relationships/slide" Target="slide4.xml"/><Relationship Id="rId15" Type="http://schemas.openxmlformats.org/officeDocument/2006/relationships/slide" Target="slide12.xml"/><Relationship Id="rId10" Type="http://schemas.openxmlformats.org/officeDocument/2006/relationships/slide" Target="slide8.xml"/><Relationship Id="rId19" Type="http://schemas.openxmlformats.org/officeDocument/2006/relationships/slide" Target="slide15.xml"/><Relationship Id="rId4" Type="http://schemas.openxmlformats.org/officeDocument/2006/relationships/slide" Target="slide3.xml"/><Relationship Id="rId9" Type="http://schemas.openxmlformats.org/officeDocument/2006/relationships/image" Target="../media/image3.png"/><Relationship Id="rId14" Type="http://schemas.openxmlformats.org/officeDocument/2006/relationships/image" Target="../media/image5.png"/><Relationship Id="rId22" Type="http://schemas.openxmlformats.org/officeDocument/2006/relationships/slide" Target="slide18.xml"/></Relationships>
</file>

<file path=ppt/slides/_rels/slide3.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4.xml.rels><?xml version="1.0" encoding="UTF-8" standalone="yes"?>
<Relationships xmlns="http://schemas.openxmlformats.org/package/2006/relationships"><Relationship Id="rId8" Type="http://schemas.openxmlformats.org/officeDocument/2006/relationships/chart" Target="../charts/chart2.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openxmlformats.org/officeDocument/2006/relationships/chart" Target="../charts/chart3.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5.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6.xml.rels><?xml version="1.0" encoding="UTF-8" standalone="yes"?>
<Relationships xmlns="http://schemas.openxmlformats.org/package/2006/relationships"><Relationship Id="rId8" Type="http://schemas.openxmlformats.org/officeDocument/2006/relationships/chart" Target="../charts/chart4.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7.xml.rels><?xml version="1.0" encoding="UTF-8" standalone="yes"?>
<Relationships xmlns="http://schemas.openxmlformats.org/package/2006/relationships"><Relationship Id="rId8" Type="http://schemas.openxmlformats.org/officeDocument/2006/relationships/chart" Target="../charts/chart5.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8.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9.xml.rels><?xml version="1.0" encoding="UTF-8" standalone="yes"?>
<Relationships xmlns="http://schemas.openxmlformats.org/package/2006/relationships"><Relationship Id="rId8" Type="http://schemas.openxmlformats.org/officeDocument/2006/relationships/chart" Target="../charts/chart7.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10.xml.rels><?xml version="1.0" encoding="UTF-8" standalone="yes"?>
<Relationships xmlns="http://schemas.openxmlformats.org/package/2006/relationships"><Relationship Id="rId8" Type="http://schemas.openxmlformats.org/officeDocument/2006/relationships/chart" Target="../charts/chart8.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 Id="rId9" Type="http://schemas.openxmlformats.org/officeDocument/2006/relationships/chart" Target="../charts/chart9.xml"/></Relationships>
</file>

<file path=ppt/slides/_rels/slide1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10" Type="http://schemas.openxmlformats.org/officeDocument/2006/relationships/image" Target="../media/image9.png"/><Relationship Id="rId4" Type="http://schemas.openxmlformats.org/officeDocument/2006/relationships/slide" Target="slide3.xml"/><Relationship Id="rId9" Type="http://schemas.openxmlformats.org/officeDocument/2006/relationships/image" Target="../media/image8.png"/></Relationships>
</file>

<file path=ppt/slides/_rels/slide12.xml.rels><?xml version="1.0" encoding="UTF-8" standalone="yes"?>
<Relationships xmlns="http://schemas.openxmlformats.org/package/2006/relationships"><Relationship Id="rId8" Type="http://schemas.openxmlformats.org/officeDocument/2006/relationships/chart" Target="../charts/chart10.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1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 Id="rId9" Type="http://schemas.openxmlformats.org/officeDocument/2006/relationships/chart" Target="../charts/chart11.xml"/></Relationships>
</file>

<file path=ppt/slides/_rels/slide14.xml.rels><?xml version="1.0" encoding="UTF-8" standalone="yes"?>
<Relationships xmlns="http://schemas.openxmlformats.org/package/2006/relationships"><Relationship Id="rId8" Type="http://schemas.openxmlformats.org/officeDocument/2006/relationships/chart" Target="../charts/chart12.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 Id="rId9" Type="http://schemas.openxmlformats.org/officeDocument/2006/relationships/chart" Target="../charts/chart13.xml"/></Relationships>
</file>

<file path=ppt/slides/_rels/slide15.xml.rels><?xml version="1.0" encoding="UTF-8" standalone="yes"?>
<Relationships xmlns="http://schemas.openxmlformats.org/package/2006/relationships"><Relationship Id="rId8" Type="http://schemas.openxmlformats.org/officeDocument/2006/relationships/chart" Target="../charts/chart14.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16.xml.rels><?xml version="1.0" encoding="UTF-8" standalone="yes"?>
<Relationships xmlns="http://schemas.openxmlformats.org/package/2006/relationships"><Relationship Id="rId8" Type="http://schemas.openxmlformats.org/officeDocument/2006/relationships/chart" Target="../charts/chart15.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17.xml.rels><?xml version="1.0" encoding="UTF-8" standalone="yes"?>
<Relationships xmlns="http://schemas.openxmlformats.org/package/2006/relationships"><Relationship Id="rId8" Type="http://schemas.openxmlformats.org/officeDocument/2006/relationships/chart" Target="../charts/chart16.xml"/><Relationship Id="rId3" Type="http://schemas.openxmlformats.org/officeDocument/2006/relationships/slide" Target="slide2.xml"/><Relationship Id="rId7" Type="http://schemas.openxmlformats.org/officeDocument/2006/relationships/slide" Target="slide15.xml"/><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slide" Target="slide12.xml"/><Relationship Id="rId5" Type="http://schemas.openxmlformats.org/officeDocument/2006/relationships/slide" Target="slide8.xml"/><Relationship Id="rId4" Type="http://schemas.openxmlformats.org/officeDocument/2006/relationships/slide" Target="slide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7"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Kicker"/>
          <p:cNvSpPr txBox="1"/>
          <p:nvPr/>
        </p:nvSpPr>
        <p:spPr>
          <a:xfrm>
            <a:off x="731520" y="1463040"/>
            <a:ext cx="6949440" cy="365760"/>
          </a:xfrm>
          <a:prstGeom prst="rect">
            <a:avLst/>
          </a:prstGeom>
          <a:noFill/>
          <a:ln/>
        </p:spPr>
        <p:txBody>
          <a:bodyPr wrap="square" lIns="0" tIns="0" rIns="0" bIns="0" rtlCol="0" anchor="ctr"/>
          <a:lstStyle/>
          <a:p>
            <a:pPr marL="0" indent="0">
              <a:buNone/>
            </a:pPr>
            <a:r>
              <a:rPr lang="en-US" sz="1400" b="1" kern="0" spc="200" dirty="0">
                <a:solidFill>
                  <a:schemeClr val="accent3"/>
                </a:solidFill>
              </a:rPr>
              <a:t>DATA ANALYSIS  |  100,000 ORDERS</a:t>
            </a:r>
            <a:endParaRPr lang="en-US" sz="1400" dirty="0"/>
          </a:p>
        </p:txBody>
      </p:sp>
      <p:sp>
        <p:nvSpPr>
          <p:cNvPr id="3" name="Text 0"/>
          <p:cNvSpPr>
            <a:spLocks noGrp="1"/>
          </p:cNvSpPr>
          <p:nvPr>
            <p:ph type="title" idx="100" hasCustomPrompt="1"/>
          </p:nvPr>
        </p:nvSpPr>
        <p:spPr>
          <a:xfrm>
            <a:off x="731520" y="2103120"/>
            <a:ext cx="6949440" cy="1737360"/>
          </a:xfrm>
          <a:prstGeom prst="rect">
            <a:avLst/>
          </a:prstGeom>
          <a:noFill/>
          <a:ln/>
        </p:spPr>
        <p:txBody>
          <a:bodyPr wrap="square" lIns="0" tIns="0" rIns="0" bIns="0" rtlCol="0" anchor="b"/>
          <a:lstStyle/>
          <a:p>
            <a:pPr marL="0" indent="0" algn="l">
              <a:buNone/>
            </a:pPr>
            <a:r>
              <a:rPr lang="en-US" sz="5400" b="1" dirty="0">
                <a:solidFill>
                  <a:schemeClr val="bg1"/>
                </a:solidFill>
              </a:rPr>
              <a:t>Food Delivery Analysis</a:t>
            </a:r>
            <a:endParaRPr lang="en-US" sz="5400" dirty="0"/>
          </a:p>
        </p:txBody>
      </p:sp>
      <p:sp>
        <p:nvSpPr>
          <p:cNvPr id="4" name="Text 0"/>
          <p:cNvSpPr>
            <a:spLocks noGrp="1"/>
          </p:cNvSpPr>
          <p:nvPr>
            <p:ph type="body" idx="101" hasCustomPrompt="1"/>
          </p:nvPr>
        </p:nvSpPr>
        <p:spPr>
          <a:xfrm>
            <a:off x="731520" y="4023360"/>
            <a:ext cx="6949440" cy="548640"/>
          </a:xfrm>
          <a:prstGeom prst="rect">
            <a:avLst/>
          </a:prstGeom>
          <a:noFill/>
          <a:ln/>
        </p:spPr>
        <p:txBody>
          <a:bodyPr wrap="square" lIns="0" tIns="0" rIns="0" bIns="0" rtlCol="0"/>
          <a:lstStyle/>
          <a:p>
            <a:pPr marL="0" indent="0">
              <a:buNone/>
            </a:pPr>
            <a:r>
              <a:rPr lang="en-US" sz="2400" dirty="0">
                <a:solidFill>
                  <a:schemeClr val="bg2"/>
                </a:solidFill>
              </a:rPr>
              <a:t>Data-driven business insights</a:t>
            </a:r>
            <a:endParaRPr lang="en-US" sz="2400" dirty="0"/>
          </a:p>
        </p:txBody>
      </p:sp>
      <p:sp>
        <p:nvSpPr>
          <p:cNvPr id="5" name="Text 0"/>
          <p:cNvSpPr>
            <a:spLocks noGrp="1"/>
          </p:cNvSpPr>
          <p:nvPr>
            <p:ph type="body" idx="102" hasCustomPrompt="1"/>
          </p:nvPr>
        </p:nvSpPr>
        <p:spPr>
          <a:xfrm>
            <a:off x="731520" y="4846320"/>
            <a:ext cx="6949440" cy="457200"/>
          </a:xfrm>
          <a:prstGeom prst="rect">
            <a:avLst/>
          </a:prstGeom>
          <a:noFill/>
          <a:ln/>
        </p:spPr>
        <p:txBody>
          <a:bodyPr wrap="square" lIns="0" tIns="0" rIns="0" bIns="0" rtlCol="0"/>
          <a:lstStyle/>
          <a:p>
            <a:pPr marL="0" indent="0">
              <a:buNone/>
            </a:pPr>
            <a:r>
              <a:rPr lang="en-US" sz="1800" b="1" dirty="0">
                <a:solidFill>
                  <a:schemeClr val="accent3"/>
                </a:solidFill>
              </a:rPr>
              <a:t>Janani</a:t>
            </a:r>
            <a:endParaRPr lang="en-US" sz="1800" dirty="0"/>
          </a:p>
        </p:txBody>
      </p:sp>
      <p:sp>
        <p:nvSpPr>
          <p:cNvPr id="6" name="Utensils icon circle"/>
          <p:cNvSpPr/>
          <p:nvPr/>
        </p:nvSpPr>
        <p:spPr>
          <a:xfrm>
            <a:off x="8138160" y="1371600"/>
            <a:ext cx="3108960" cy="3108960"/>
          </a:xfrm>
          <a:prstGeom prst="ellipse">
            <a:avLst/>
          </a:prstGeom>
          <a:solidFill>
            <a:schemeClr val="accent1"/>
          </a:solidFill>
          <a:ln/>
        </p:spPr>
      </p:sp>
      <p:pic>
        <p:nvPicPr>
          <p:cNvPr id="7" name="Utensils icon" descr="Utensils icon"/>
          <p:cNvPicPr>
            <a:picLocks noChangeAspect="1"/>
          </p:cNvPicPr>
          <p:nvPr/>
        </p:nvPicPr>
        <p:blipFill>
          <a:blip r:embed="rId3"/>
          <a:stretch>
            <a:fillRect/>
          </a:stretch>
        </p:blipFill>
        <p:spPr>
          <a:xfrm>
            <a:off x="8915400" y="2148840"/>
            <a:ext cx="1554480" cy="1554480"/>
          </a:xfrm>
          <a:prstGeom prst="rect">
            <a:avLst/>
          </a:prstGeom>
        </p:spPr>
      </p:pic>
      <p:sp>
        <p:nvSpPr>
          <p:cNvPr id="8" name="Delivery icon circle"/>
          <p:cNvSpPr/>
          <p:nvPr/>
        </p:nvSpPr>
        <p:spPr>
          <a:xfrm>
            <a:off x="7680960" y="4297680"/>
            <a:ext cx="1280160" cy="1280160"/>
          </a:xfrm>
          <a:prstGeom prst="ellipse">
            <a:avLst/>
          </a:prstGeom>
          <a:solidFill>
            <a:schemeClr val="accent3"/>
          </a:solidFill>
          <a:ln/>
        </p:spPr>
      </p:sp>
      <p:pic>
        <p:nvPicPr>
          <p:cNvPr id="9" name="Delivery icon" descr="Delivery icon"/>
          <p:cNvPicPr>
            <a:picLocks noChangeAspect="1"/>
          </p:cNvPicPr>
          <p:nvPr/>
        </p:nvPicPr>
        <p:blipFill>
          <a:blip r:embed="rId4"/>
          <a:stretch>
            <a:fillRect/>
          </a:stretch>
        </p:blipFill>
        <p:spPr>
          <a:xfrm>
            <a:off x="8001000" y="4617720"/>
            <a:ext cx="640080" cy="640080"/>
          </a:xfrm>
          <a:prstGeom prst="rect">
            <a:avLst/>
          </a:prstGeom>
        </p:spPr>
      </p:pic>
      <p:sp>
        <p:nvSpPr>
          <p:cNvPr id="10" name="Chart icon circle"/>
          <p:cNvSpPr/>
          <p:nvPr/>
        </p:nvSpPr>
        <p:spPr>
          <a:xfrm>
            <a:off x="10515600" y="3931920"/>
            <a:ext cx="1097280" cy="1097280"/>
          </a:xfrm>
          <a:prstGeom prst="ellipse">
            <a:avLst/>
          </a:prstGeom>
          <a:solidFill>
            <a:schemeClr val="accent2"/>
          </a:solidFill>
          <a:ln/>
        </p:spPr>
      </p:sp>
      <p:pic>
        <p:nvPicPr>
          <p:cNvPr id="11" name="Chart icon" descr="Chart icon"/>
          <p:cNvPicPr>
            <a:picLocks noChangeAspect="1"/>
          </p:cNvPicPr>
          <p:nvPr/>
        </p:nvPicPr>
        <p:blipFill>
          <a:blip r:embed="rId5"/>
          <a:stretch>
            <a:fillRect/>
          </a:stretch>
        </p:blipFill>
        <p:spPr>
          <a:xfrm>
            <a:off x="10789920" y="4206240"/>
            <a:ext cx="548640" cy="5486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Agenda</a:t>
            </a:r>
            <a:endParaRPr lang="en-US" sz="3600" dirty="0"/>
          </a:p>
        </p:txBody>
      </p:sp>
      <p:sp>
        <p:nvSpPr>
          <p:cNvPr id="4" name="Agenda card: Customers &amp; Orders"/>
          <p:cNvSpPr/>
          <p:nvPr/>
        </p:nvSpPr>
        <p:spPr>
          <a:xfrm>
            <a:off x="548640" y="2148840"/>
            <a:ext cx="2642616" cy="3611880"/>
          </a:xfrm>
          <a:prstGeom prst="roundRect">
            <a:avLst>
              <a:gd name="adj" fmla="val 4152"/>
            </a:avLst>
          </a:prstGeom>
          <a:solidFill>
            <a:schemeClr val="bg2"/>
          </a:solidFill>
          <a:ln/>
        </p:spPr>
      </p:sp>
      <p:sp>
        <p:nvSpPr>
          <p:cNvPr id="5" name="Customers icon circle"/>
          <p:cNvSpPr/>
          <p:nvPr/>
        </p:nvSpPr>
        <p:spPr>
          <a:xfrm>
            <a:off x="731520" y="2331720"/>
            <a:ext cx="566928" cy="566928"/>
          </a:xfrm>
          <a:prstGeom prst="ellipse">
            <a:avLst/>
          </a:prstGeom>
          <a:solidFill>
            <a:schemeClr val="accent1"/>
          </a:solidFill>
          <a:ln/>
        </p:spPr>
      </p:sp>
      <p:pic>
        <p:nvPicPr>
          <p:cNvPr id="6" name="Customers icon" descr="Customers icon"/>
          <p:cNvPicPr>
            <a:picLocks noChangeAspect="1"/>
          </p:cNvPicPr>
          <p:nvPr/>
        </p:nvPicPr>
        <p:blipFill>
          <a:blip r:embed="rId3"/>
          <a:stretch>
            <a:fillRect/>
          </a:stretch>
        </p:blipFill>
        <p:spPr>
          <a:xfrm>
            <a:off x="873252" y="2473452"/>
            <a:ext cx="283464" cy="283464"/>
          </a:xfrm>
          <a:prstGeom prst="rect">
            <a:avLst/>
          </a:prstGeom>
        </p:spPr>
      </p:pic>
      <p:sp>
        <p:nvSpPr>
          <p:cNvPr id="7" name="Section name"/>
          <p:cNvSpPr txBox="1"/>
          <p:nvPr/>
        </p:nvSpPr>
        <p:spPr>
          <a:xfrm>
            <a:off x="731520" y="2971800"/>
            <a:ext cx="2276856" cy="548640"/>
          </a:xfrm>
          <a:prstGeom prst="rect">
            <a:avLst/>
          </a:prstGeom>
          <a:noFill/>
          <a:ln/>
        </p:spPr>
        <p:txBody>
          <a:bodyPr wrap="square" lIns="0" tIns="0" rIns="0" bIns="0" rtlCol="0" anchor="t"/>
          <a:lstStyle/>
          <a:p>
            <a:pPr marL="0" indent="0">
              <a:buNone/>
            </a:pPr>
            <a:r>
              <a:rPr lang="en-US" sz="1600" b="1" dirty="0">
                <a:solidFill>
                  <a:schemeClr val="tx1"/>
                </a:solidFill>
              </a:rPr>
              <a:t>Customers &amp; Orders</a:t>
            </a:r>
            <a:endParaRPr lang="en-US" sz="1600" dirty="0"/>
          </a:p>
        </p:txBody>
      </p:sp>
      <p:sp>
        <p:nvSpPr>
          <p:cNvPr id="8" name="Slide no."/>
          <p:cNvSpPr txBox="1"/>
          <p:nvPr/>
        </p:nvSpPr>
        <p:spPr>
          <a:xfrm>
            <a:off x="731520" y="361188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03</a:t>
            </a:r>
            <a:endParaRPr lang="en-US" sz="1200" dirty="0"/>
          </a:p>
        </p:txBody>
      </p:sp>
      <p:sp>
        <p:nvSpPr>
          <p:cNvPr id="9" name="Agenda item"/>
          <p:cNvSpPr txBox="1"/>
          <p:nvPr/>
        </p:nvSpPr>
        <p:spPr>
          <a:xfrm>
            <a:off x="1097280" y="3611880"/>
            <a:ext cx="1956816" cy="347472"/>
          </a:xfrm>
          <a:prstGeom prst="rect">
            <a:avLst/>
          </a:prstGeom>
          <a:noFill/>
          <a:ln/>
        </p:spPr>
        <p:txBody>
          <a:bodyPr wrap="square" lIns="0" tIns="0" rIns="0" bIns="0" rtlCol="0" anchor="ctr"/>
          <a:lstStyle/>
          <a:p>
            <a:pPr marL="0" indent="0">
              <a:buNone/>
            </a:pPr>
            <a:r>
              <a:rPr lang="en-US" sz="1400" dirty="0">
                <a:solidFill>
                  <a:schemeClr val="tx1"/>
                </a:solidFill>
              </a:rPr>
              <a:t>Top-spending customers</a:t>
            </a:r>
            <a:endParaRPr lang="en-US" sz="1400" dirty="0"/>
          </a:p>
        </p:txBody>
      </p:sp>
      <p:sp>
        <p:nvSpPr>
          <p:cNvPr id="10" name="Link: Go to Top-spending customers">
            <a:hlinkClick r:id="rId4" action="ppaction://hlinksldjump" tooltip="Go to Top-spending customers"/>
          </p:cNvPr>
          <p:cNvSpPr/>
          <p:nvPr/>
        </p:nvSpPr>
        <p:spPr>
          <a:xfrm>
            <a:off x="650240" y="3601720"/>
            <a:ext cx="2459736" cy="347472"/>
          </a:xfrm>
          <a:prstGeom prst="rect">
            <a:avLst/>
          </a:prstGeom>
          <a:solidFill>
            <a:srgbClr val="FFFFFF">
              <a:alpha val="0"/>
            </a:srgbClr>
          </a:solidFill>
          <a:ln/>
        </p:spPr>
        <p:txBody>
          <a:bodyPr/>
          <a:lstStyle/>
          <a:p>
            <a:r>
              <a:rPr lang="en-GB" dirty="0"/>
              <a:t> </a:t>
            </a:r>
            <a:endParaRPr lang="en-IN" dirty="0"/>
          </a:p>
        </p:txBody>
      </p:sp>
      <p:sp>
        <p:nvSpPr>
          <p:cNvPr id="11" name="Slide no."/>
          <p:cNvSpPr txBox="1"/>
          <p:nvPr/>
        </p:nvSpPr>
        <p:spPr>
          <a:xfrm>
            <a:off x="731520" y="402336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04</a:t>
            </a:r>
            <a:endParaRPr lang="en-US" sz="1200" dirty="0"/>
          </a:p>
        </p:txBody>
      </p:sp>
      <p:sp>
        <p:nvSpPr>
          <p:cNvPr id="12" name="Agenda item"/>
          <p:cNvSpPr txBox="1"/>
          <p:nvPr/>
        </p:nvSpPr>
        <p:spPr>
          <a:xfrm>
            <a:off x="1097280" y="4023360"/>
            <a:ext cx="1956816" cy="347472"/>
          </a:xfrm>
          <a:prstGeom prst="rect">
            <a:avLst/>
          </a:prstGeom>
          <a:noFill/>
          <a:ln/>
        </p:spPr>
        <p:txBody>
          <a:bodyPr wrap="square" lIns="0" tIns="0" rIns="0" bIns="0" rtlCol="0" anchor="ctr"/>
          <a:lstStyle/>
          <a:p>
            <a:pPr marL="0" indent="0">
              <a:buNone/>
            </a:pPr>
            <a:r>
              <a:rPr lang="en-US" sz="1400" dirty="0">
                <a:solidFill>
                  <a:schemeClr val="tx1"/>
                </a:solidFill>
              </a:rPr>
              <a:t>Age vs order value</a:t>
            </a:r>
            <a:endParaRPr lang="en-US" sz="1400" dirty="0"/>
          </a:p>
        </p:txBody>
      </p:sp>
      <p:sp>
        <p:nvSpPr>
          <p:cNvPr id="13" name="Link: Go to Age vs order value">
            <a:hlinkClick r:id="rId5" action="ppaction://hlinksldjump" tooltip="Go to Age vs order value"/>
          </p:cNvPr>
          <p:cNvSpPr/>
          <p:nvPr/>
        </p:nvSpPr>
        <p:spPr>
          <a:xfrm>
            <a:off x="640080" y="4023360"/>
            <a:ext cx="2459736" cy="347472"/>
          </a:xfrm>
          <a:prstGeom prst="rect">
            <a:avLst/>
          </a:prstGeom>
          <a:solidFill>
            <a:srgbClr val="FFFFFF">
              <a:alpha val="0"/>
            </a:srgbClr>
          </a:solidFill>
          <a:ln/>
        </p:spPr>
      </p:sp>
      <p:sp>
        <p:nvSpPr>
          <p:cNvPr id="14" name="Slide no."/>
          <p:cNvSpPr txBox="1"/>
          <p:nvPr/>
        </p:nvSpPr>
        <p:spPr>
          <a:xfrm>
            <a:off x="731520" y="443484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05</a:t>
            </a:r>
            <a:endParaRPr lang="en-US" sz="1200" dirty="0"/>
          </a:p>
        </p:txBody>
      </p:sp>
      <p:sp>
        <p:nvSpPr>
          <p:cNvPr id="15" name="Agenda item"/>
          <p:cNvSpPr txBox="1"/>
          <p:nvPr/>
        </p:nvSpPr>
        <p:spPr>
          <a:xfrm>
            <a:off x="1097280" y="4434840"/>
            <a:ext cx="1956816" cy="347472"/>
          </a:xfrm>
          <a:prstGeom prst="rect">
            <a:avLst/>
          </a:prstGeom>
          <a:noFill/>
          <a:ln/>
        </p:spPr>
        <p:txBody>
          <a:bodyPr wrap="square" lIns="0" tIns="0" rIns="0" bIns="0" rtlCol="0" anchor="ctr"/>
          <a:lstStyle/>
          <a:p>
            <a:pPr marL="0" indent="0">
              <a:buNone/>
            </a:pPr>
            <a:r>
              <a:rPr lang="en-US" sz="1400" dirty="0">
                <a:solidFill>
                  <a:schemeClr val="tx1"/>
                </a:solidFill>
              </a:rPr>
              <a:t>Weekend vs weekday</a:t>
            </a:r>
            <a:endParaRPr lang="en-US" sz="1400" dirty="0"/>
          </a:p>
        </p:txBody>
      </p:sp>
      <p:sp>
        <p:nvSpPr>
          <p:cNvPr id="16" name="Link: Go to Weekend vs weekday">
            <a:hlinkClick r:id="rId6" action="ppaction://hlinksldjump" tooltip="Go to Weekend vs weekday"/>
          </p:cNvPr>
          <p:cNvSpPr/>
          <p:nvPr/>
        </p:nvSpPr>
        <p:spPr>
          <a:xfrm>
            <a:off x="640080" y="4434840"/>
            <a:ext cx="2459736" cy="347472"/>
          </a:xfrm>
          <a:prstGeom prst="rect">
            <a:avLst/>
          </a:prstGeom>
          <a:solidFill>
            <a:srgbClr val="FFFFFF">
              <a:alpha val="0"/>
            </a:srgbClr>
          </a:solidFill>
          <a:ln/>
        </p:spPr>
      </p:sp>
      <p:sp>
        <p:nvSpPr>
          <p:cNvPr id="17" name="Slide no."/>
          <p:cNvSpPr txBox="1"/>
          <p:nvPr/>
        </p:nvSpPr>
        <p:spPr>
          <a:xfrm>
            <a:off x="731520" y="484632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06</a:t>
            </a:r>
            <a:endParaRPr lang="en-US" sz="1200" dirty="0"/>
          </a:p>
        </p:txBody>
      </p:sp>
      <p:sp>
        <p:nvSpPr>
          <p:cNvPr id="18" name="Agenda item"/>
          <p:cNvSpPr txBox="1"/>
          <p:nvPr/>
        </p:nvSpPr>
        <p:spPr>
          <a:xfrm>
            <a:off x="1097280" y="4846320"/>
            <a:ext cx="1956816" cy="347472"/>
          </a:xfrm>
          <a:prstGeom prst="rect">
            <a:avLst/>
          </a:prstGeom>
          <a:noFill/>
          <a:ln/>
        </p:spPr>
        <p:txBody>
          <a:bodyPr wrap="square" lIns="0" tIns="0" rIns="0" bIns="0" rtlCol="0" anchor="ctr"/>
          <a:lstStyle/>
          <a:p>
            <a:pPr marL="0" indent="0">
              <a:buNone/>
            </a:pPr>
            <a:r>
              <a:rPr lang="en-US" sz="1400" dirty="0">
                <a:solidFill>
                  <a:schemeClr val="tx1"/>
                </a:solidFill>
              </a:rPr>
              <a:t>Peak-hour demand</a:t>
            </a:r>
            <a:endParaRPr lang="en-US" sz="1400" dirty="0"/>
          </a:p>
        </p:txBody>
      </p:sp>
      <p:sp>
        <p:nvSpPr>
          <p:cNvPr id="19" name="Link: Go to Peak-hour demand">
            <a:hlinkClick r:id="rId7" action="ppaction://hlinksldjump" tooltip="Go to Peak-hour demand"/>
          </p:cNvPr>
          <p:cNvSpPr/>
          <p:nvPr/>
        </p:nvSpPr>
        <p:spPr>
          <a:xfrm>
            <a:off x="640080" y="4846320"/>
            <a:ext cx="2459736" cy="347472"/>
          </a:xfrm>
          <a:prstGeom prst="rect">
            <a:avLst/>
          </a:prstGeom>
          <a:solidFill>
            <a:srgbClr val="FFFFFF">
              <a:alpha val="0"/>
            </a:srgbClr>
          </a:solidFill>
          <a:ln/>
        </p:spPr>
      </p:sp>
      <p:sp>
        <p:nvSpPr>
          <p:cNvPr id="20" name="Slide no."/>
          <p:cNvSpPr txBox="1"/>
          <p:nvPr/>
        </p:nvSpPr>
        <p:spPr>
          <a:xfrm>
            <a:off x="731520" y="525780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07</a:t>
            </a:r>
            <a:endParaRPr lang="en-US" sz="1200" dirty="0"/>
          </a:p>
        </p:txBody>
      </p:sp>
      <p:sp>
        <p:nvSpPr>
          <p:cNvPr id="21" name="Agenda item"/>
          <p:cNvSpPr txBox="1"/>
          <p:nvPr/>
        </p:nvSpPr>
        <p:spPr>
          <a:xfrm>
            <a:off x="1097280" y="5257800"/>
            <a:ext cx="1956816" cy="347472"/>
          </a:xfrm>
          <a:prstGeom prst="rect">
            <a:avLst/>
          </a:prstGeom>
          <a:noFill/>
          <a:ln/>
        </p:spPr>
        <p:txBody>
          <a:bodyPr wrap="square" lIns="0" tIns="0" rIns="0" bIns="0" rtlCol="0" anchor="ctr"/>
          <a:lstStyle/>
          <a:p>
            <a:pPr marL="0" indent="0">
              <a:buNone/>
            </a:pPr>
            <a:r>
              <a:rPr lang="en-US" sz="1400" dirty="0">
                <a:solidFill>
                  <a:schemeClr val="tx1"/>
                </a:solidFill>
              </a:rPr>
              <a:t>Payment modes</a:t>
            </a:r>
            <a:endParaRPr lang="en-US" sz="1400" dirty="0"/>
          </a:p>
        </p:txBody>
      </p:sp>
      <p:sp>
        <p:nvSpPr>
          <p:cNvPr id="22" name="Link: Go to Payment modes">
            <a:hlinkClick r:id="rId8" action="ppaction://hlinksldjump" tooltip="Go to Payment modes"/>
          </p:cNvPr>
          <p:cNvSpPr/>
          <p:nvPr/>
        </p:nvSpPr>
        <p:spPr>
          <a:xfrm>
            <a:off x="640080" y="5257800"/>
            <a:ext cx="2459736" cy="347472"/>
          </a:xfrm>
          <a:prstGeom prst="rect">
            <a:avLst/>
          </a:prstGeom>
          <a:solidFill>
            <a:srgbClr val="FFFFFF">
              <a:alpha val="0"/>
            </a:srgbClr>
          </a:solidFill>
          <a:ln/>
        </p:spPr>
      </p:sp>
      <p:sp>
        <p:nvSpPr>
          <p:cNvPr id="23" name="Agenda card: Revenue &amp; Profit"/>
          <p:cNvSpPr/>
          <p:nvPr/>
        </p:nvSpPr>
        <p:spPr>
          <a:xfrm>
            <a:off x="3364992" y="2148840"/>
            <a:ext cx="2642616" cy="3611880"/>
          </a:xfrm>
          <a:prstGeom prst="roundRect">
            <a:avLst>
              <a:gd name="adj" fmla="val 4152"/>
            </a:avLst>
          </a:prstGeom>
          <a:solidFill>
            <a:schemeClr val="bg2"/>
          </a:solidFill>
          <a:ln/>
        </p:spPr>
      </p:sp>
      <p:sp>
        <p:nvSpPr>
          <p:cNvPr id="24" name="Revenue icon circle"/>
          <p:cNvSpPr/>
          <p:nvPr/>
        </p:nvSpPr>
        <p:spPr>
          <a:xfrm>
            <a:off x="3547872" y="2331720"/>
            <a:ext cx="566928" cy="566928"/>
          </a:xfrm>
          <a:prstGeom prst="ellipse">
            <a:avLst/>
          </a:prstGeom>
          <a:solidFill>
            <a:schemeClr val="accent2"/>
          </a:solidFill>
          <a:ln/>
        </p:spPr>
      </p:sp>
      <p:pic>
        <p:nvPicPr>
          <p:cNvPr id="25" name="Revenue icon" descr="Revenue icon"/>
          <p:cNvPicPr>
            <a:picLocks noChangeAspect="1"/>
          </p:cNvPicPr>
          <p:nvPr/>
        </p:nvPicPr>
        <p:blipFill>
          <a:blip r:embed="rId9"/>
          <a:stretch>
            <a:fillRect/>
          </a:stretch>
        </p:blipFill>
        <p:spPr>
          <a:xfrm>
            <a:off x="3689604" y="2473452"/>
            <a:ext cx="283464" cy="283464"/>
          </a:xfrm>
          <a:prstGeom prst="rect">
            <a:avLst/>
          </a:prstGeom>
        </p:spPr>
      </p:pic>
      <p:sp>
        <p:nvSpPr>
          <p:cNvPr id="26" name="Section name"/>
          <p:cNvSpPr txBox="1"/>
          <p:nvPr/>
        </p:nvSpPr>
        <p:spPr>
          <a:xfrm>
            <a:off x="3547872" y="2971800"/>
            <a:ext cx="2276856" cy="548640"/>
          </a:xfrm>
          <a:prstGeom prst="rect">
            <a:avLst/>
          </a:prstGeom>
          <a:noFill/>
          <a:ln/>
        </p:spPr>
        <p:txBody>
          <a:bodyPr wrap="square" lIns="0" tIns="0" rIns="0" bIns="0" rtlCol="0" anchor="t"/>
          <a:lstStyle/>
          <a:p>
            <a:pPr marL="0" indent="0">
              <a:buNone/>
            </a:pPr>
            <a:r>
              <a:rPr lang="en-US" sz="1600" b="1" dirty="0">
                <a:solidFill>
                  <a:schemeClr val="tx1"/>
                </a:solidFill>
              </a:rPr>
              <a:t>Revenue &amp; Profit</a:t>
            </a:r>
            <a:endParaRPr lang="en-US" sz="1600" dirty="0"/>
          </a:p>
        </p:txBody>
      </p:sp>
      <p:sp>
        <p:nvSpPr>
          <p:cNvPr id="27" name="Slide no."/>
          <p:cNvSpPr txBox="1"/>
          <p:nvPr/>
        </p:nvSpPr>
        <p:spPr>
          <a:xfrm>
            <a:off x="3547872" y="361188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08</a:t>
            </a:r>
            <a:endParaRPr lang="en-US" sz="1200" dirty="0"/>
          </a:p>
        </p:txBody>
      </p:sp>
      <p:sp>
        <p:nvSpPr>
          <p:cNvPr id="28" name="Agenda item"/>
          <p:cNvSpPr txBox="1"/>
          <p:nvPr/>
        </p:nvSpPr>
        <p:spPr>
          <a:xfrm>
            <a:off x="3913632" y="3611880"/>
            <a:ext cx="1956816" cy="347472"/>
          </a:xfrm>
          <a:prstGeom prst="rect">
            <a:avLst/>
          </a:prstGeom>
          <a:noFill/>
          <a:ln/>
        </p:spPr>
        <p:txBody>
          <a:bodyPr wrap="square" lIns="0" tIns="0" rIns="0" bIns="0" rtlCol="0" anchor="ctr"/>
          <a:lstStyle/>
          <a:p>
            <a:pPr marL="0" indent="0">
              <a:buNone/>
            </a:pPr>
            <a:r>
              <a:rPr lang="en-US" sz="1400" dirty="0">
                <a:solidFill>
                  <a:schemeClr val="tx1"/>
                </a:solidFill>
              </a:rPr>
              <a:t>Monthly revenue</a:t>
            </a:r>
            <a:endParaRPr lang="en-US" sz="1400" dirty="0"/>
          </a:p>
        </p:txBody>
      </p:sp>
      <p:sp>
        <p:nvSpPr>
          <p:cNvPr id="29" name="Link: Go to Monthly revenue">
            <a:hlinkClick r:id="rId10" action="ppaction://hlinksldjump" tooltip="Go to Monthly revenue"/>
          </p:cNvPr>
          <p:cNvSpPr/>
          <p:nvPr/>
        </p:nvSpPr>
        <p:spPr>
          <a:xfrm>
            <a:off x="3456432" y="3611880"/>
            <a:ext cx="2459736" cy="347472"/>
          </a:xfrm>
          <a:prstGeom prst="rect">
            <a:avLst/>
          </a:prstGeom>
          <a:solidFill>
            <a:srgbClr val="FFFFFF">
              <a:alpha val="0"/>
            </a:srgbClr>
          </a:solidFill>
          <a:ln/>
        </p:spPr>
      </p:sp>
      <p:sp>
        <p:nvSpPr>
          <p:cNvPr id="30" name="Slide no."/>
          <p:cNvSpPr txBox="1"/>
          <p:nvPr/>
        </p:nvSpPr>
        <p:spPr>
          <a:xfrm>
            <a:off x="3547872" y="402336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09</a:t>
            </a:r>
            <a:endParaRPr lang="en-US" sz="1200" dirty="0"/>
          </a:p>
        </p:txBody>
      </p:sp>
      <p:sp>
        <p:nvSpPr>
          <p:cNvPr id="31" name="Agenda item"/>
          <p:cNvSpPr txBox="1"/>
          <p:nvPr/>
        </p:nvSpPr>
        <p:spPr>
          <a:xfrm>
            <a:off x="3913632" y="4023360"/>
            <a:ext cx="1956816" cy="347472"/>
          </a:xfrm>
          <a:prstGeom prst="rect">
            <a:avLst/>
          </a:prstGeom>
          <a:noFill/>
          <a:ln/>
        </p:spPr>
        <p:txBody>
          <a:bodyPr wrap="square" lIns="0" tIns="0" rIns="0" bIns="0" rtlCol="0" anchor="ctr"/>
          <a:lstStyle/>
          <a:p>
            <a:pPr marL="0" indent="0">
              <a:buNone/>
            </a:pPr>
            <a:r>
              <a:rPr lang="en-US" sz="1400" dirty="0">
                <a:solidFill>
                  <a:schemeClr val="tx1"/>
                </a:solidFill>
              </a:rPr>
              <a:t>Discounts vs profit</a:t>
            </a:r>
            <a:endParaRPr lang="en-US" sz="1400" dirty="0"/>
          </a:p>
        </p:txBody>
      </p:sp>
      <p:sp>
        <p:nvSpPr>
          <p:cNvPr id="32" name="Link: Go to Discounts vs profit">
            <a:hlinkClick r:id="rId11" action="ppaction://hlinksldjump" tooltip="Go to Discounts vs profit"/>
          </p:cNvPr>
          <p:cNvSpPr/>
          <p:nvPr/>
        </p:nvSpPr>
        <p:spPr>
          <a:xfrm>
            <a:off x="3456432" y="4023360"/>
            <a:ext cx="2459736" cy="347472"/>
          </a:xfrm>
          <a:prstGeom prst="rect">
            <a:avLst/>
          </a:prstGeom>
          <a:solidFill>
            <a:srgbClr val="FFFFFF">
              <a:alpha val="0"/>
            </a:srgbClr>
          </a:solidFill>
          <a:ln/>
        </p:spPr>
      </p:sp>
      <p:sp>
        <p:nvSpPr>
          <p:cNvPr id="33" name="Slide no."/>
          <p:cNvSpPr txBox="1"/>
          <p:nvPr/>
        </p:nvSpPr>
        <p:spPr>
          <a:xfrm>
            <a:off x="3547872" y="443484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10</a:t>
            </a:r>
            <a:endParaRPr lang="en-US" sz="1200" dirty="0"/>
          </a:p>
        </p:txBody>
      </p:sp>
      <p:sp>
        <p:nvSpPr>
          <p:cNvPr id="34" name="Agenda item"/>
          <p:cNvSpPr txBox="1"/>
          <p:nvPr/>
        </p:nvSpPr>
        <p:spPr>
          <a:xfrm>
            <a:off x="3913632" y="4434840"/>
            <a:ext cx="1956816" cy="347472"/>
          </a:xfrm>
          <a:prstGeom prst="rect">
            <a:avLst/>
          </a:prstGeom>
          <a:noFill/>
          <a:ln/>
        </p:spPr>
        <p:txBody>
          <a:bodyPr wrap="square" lIns="0" tIns="0" rIns="0" bIns="0" rtlCol="0" anchor="ctr"/>
          <a:lstStyle/>
          <a:p>
            <a:pPr marL="0" indent="0">
              <a:buNone/>
            </a:pPr>
            <a:r>
              <a:rPr lang="en-US" sz="1400" dirty="0">
                <a:solidFill>
                  <a:schemeClr val="tx1"/>
                </a:solidFill>
              </a:rPr>
              <a:t>Cities &amp; cuisines</a:t>
            </a:r>
            <a:endParaRPr lang="en-US" sz="1400" dirty="0"/>
          </a:p>
        </p:txBody>
      </p:sp>
      <p:sp>
        <p:nvSpPr>
          <p:cNvPr id="35" name="Link: Go to Cities &amp; cuisines">
            <a:hlinkClick r:id="rId12" action="ppaction://hlinksldjump" tooltip="Go to Cities &amp; cuisines"/>
          </p:cNvPr>
          <p:cNvSpPr/>
          <p:nvPr/>
        </p:nvSpPr>
        <p:spPr>
          <a:xfrm>
            <a:off x="3456432" y="4434840"/>
            <a:ext cx="2459736" cy="347472"/>
          </a:xfrm>
          <a:prstGeom prst="rect">
            <a:avLst/>
          </a:prstGeom>
          <a:solidFill>
            <a:srgbClr val="FFFFFF">
              <a:alpha val="0"/>
            </a:srgbClr>
          </a:solidFill>
          <a:ln/>
        </p:spPr>
      </p:sp>
      <p:sp>
        <p:nvSpPr>
          <p:cNvPr id="36" name="Slide no."/>
          <p:cNvSpPr txBox="1"/>
          <p:nvPr/>
        </p:nvSpPr>
        <p:spPr>
          <a:xfrm>
            <a:off x="3547872" y="484632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11</a:t>
            </a:r>
            <a:endParaRPr lang="en-US" sz="1200" dirty="0"/>
          </a:p>
        </p:txBody>
      </p:sp>
      <p:sp>
        <p:nvSpPr>
          <p:cNvPr id="37" name="Agenda item"/>
          <p:cNvSpPr txBox="1"/>
          <p:nvPr/>
        </p:nvSpPr>
        <p:spPr>
          <a:xfrm>
            <a:off x="3913632" y="4846320"/>
            <a:ext cx="1956816" cy="347472"/>
          </a:xfrm>
          <a:prstGeom prst="rect">
            <a:avLst/>
          </a:prstGeom>
          <a:noFill/>
          <a:ln/>
        </p:spPr>
        <p:txBody>
          <a:bodyPr wrap="square" lIns="0" tIns="0" rIns="0" bIns="0" rtlCol="0" anchor="ctr"/>
          <a:lstStyle/>
          <a:p>
            <a:pPr marL="0" indent="0">
              <a:buNone/>
            </a:pPr>
            <a:r>
              <a:rPr lang="en-US" sz="1400" dirty="0">
                <a:solidFill>
                  <a:schemeClr val="tx1"/>
                </a:solidFill>
              </a:rPr>
              <a:t>Cuisine performance</a:t>
            </a:r>
            <a:endParaRPr lang="en-US" sz="1400" dirty="0"/>
          </a:p>
        </p:txBody>
      </p:sp>
      <p:sp>
        <p:nvSpPr>
          <p:cNvPr id="38" name="Link: Go to Cuisine performance">
            <a:hlinkClick r:id="rId13" action="ppaction://hlinksldjump" tooltip="Go to Cuisine performance"/>
          </p:cNvPr>
          <p:cNvSpPr/>
          <p:nvPr/>
        </p:nvSpPr>
        <p:spPr>
          <a:xfrm>
            <a:off x="3456432" y="4846320"/>
            <a:ext cx="2459736" cy="347472"/>
          </a:xfrm>
          <a:prstGeom prst="rect">
            <a:avLst/>
          </a:prstGeom>
          <a:solidFill>
            <a:srgbClr val="FFFFFF">
              <a:alpha val="0"/>
            </a:srgbClr>
          </a:solidFill>
          <a:ln/>
        </p:spPr>
      </p:sp>
      <p:sp>
        <p:nvSpPr>
          <p:cNvPr id="39" name="Agenda card: Delivery Performance"/>
          <p:cNvSpPr/>
          <p:nvPr/>
        </p:nvSpPr>
        <p:spPr>
          <a:xfrm>
            <a:off x="6181344" y="2148840"/>
            <a:ext cx="2642616" cy="3611880"/>
          </a:xfrm>
          <a:prstGeom prst="roundRect">
            <a:avLst>
              <a:gd name="adj" fmla="val 4152"/>
            </a:avLst>
          </a:prstGeom>
          <a:solidFill>
            <a:schemeClr val="bg2"/>
          </a:solidFill>
          <a:ln/>
        </p:spPr>
      </p:sp>
      <p:sp>
        <p:nvSpPr>
          <p:cNvPr id="40" name="Delivery icon circle"/>
          <p:cNvSpPr/>
          <p:nvPr/>
        </p:nvSpPr>
        <p:spPr>
          <a:xfrm>
            <a:off x="6364224" y="2331720"/>
            <a:ext cx="566928" cy="566928"/>
          </a:xfrm>
          <a:prstGeom prst="ellipse">
            <a:avLst/>
          </a:prstGeom>
          <a:solidFill>
            <a:schemeClr val="accent4"/>
          </a:solidFill>
          <a:ln/>
        </p:spPr>
      </p:sp>
      <p:pic>
        <p:nvPicPr>
          <p:cNvPr id="41" name="Delivery icon" descr="Delivery icon"/>
          <p:cNvPicPr>
            <a:picLocks noChangeAspect="1"/>
          </p:cNvPicPr>
          <p:nvPr/>
        </p:nvPicPr>
        <p:blipFill>
          <a:blip r:embed="rId14"/>
          <a:stretch>
            <a:fillRect/>
          </a:stretch>
        </p:blipFill>
        <p:spPr>
          <a:xfrm>
            <a:off x="6505956" y="2473452"/>
            <a:ext cx="283464" cy="283464"/>
          </a:xfrm>
          <a:prstGeom prst="rect">
            <a:avLst/>
          </a:prstGeom>
        </p:spPr>
      </p:pic>
      <p:sp>
        <p:nvSpPr>
          <p:cNvPr id="42" name="Section name"/>
          <p:cNvSpPr txBox="1"/>
          <p:nvPr/>
        </p:nvSpPr>
        <p:spPr>
          <a:xfrm>
            <a:off x="6364224" y="2971800"/>
            <a:ext cx="2276856" cy="548640"/>
          </a:xfrm>
          <a:prstGeom prst="rect">
            <a:avLst/>
          </a:prstGeom>
          <a:noFill/>
          <a:ln/>
        </p:spPr>
        <p:txBody>
          <a:bodyPr wrap="square" lIns="0" tIns="0" rIns="0" bIns="0" rtlCol="0" anchor="t"/>
          <a:lstStyle/>
          <a:p>
            <a:pPr marL="0" indent="0">
              <a:buNone/>
            </a:pPr>
            <a:r>
              <a:rPr lang="en-US" sz="1600" b="1" dirty="0">
                <a:solidFill>
                  <a:schemeClr val="tx1"/>
                </a:solidFill>
              </a:rPr>
              <a:t>Delivery Performance</a:t>
            </a:r>
            <a:endParaRPr lang="en-US" sz="1600" dirty="0"/>
          </a:p>
        </p:txBody>
      </p:sp>
      <p:sp>
        <p:nvSpPr>
          <p:cNvPr id="43" name="Slide no."/>
          <p:cNvSpPr txBox="1"/>
          <p:nvPr/>
        </p:nvSpPr>
        <p:spPr>
          <a:xfrm>
            <a:off x="6364224" y="361188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12</a:t>
            </a:r>
            <a:endParaRPr lang="en-US" sz="1200" dirty="0"/>
          </a:p>
        </p:txBody>
      </p:sp>
      <p:sp>
        <p:nvSpPr>
          <p:cNvPr id="44" name="Agenda item"/>
          <p:cNvSpPr txBox="1"/>
          <p:nvPr/>
        </p:nvSpPr>
        <p:spPr>
          <a:xfrm>
            <a:off x="6729984" y="3611880"/>
            <a:ext cx="1956816" cy="347472"/>
          </a:xfrm>
          <a:prstGeom prst="rect">
            <a:avLst/>
          </a:prstGeom>
          <a:noFill/>
          <a:ln/>
        </p:spPr>
        <p:txBody>
          <a:bodyPr wrap="square" lIns="0" tIns="0" rIns="0" bIns="0" rtlCol="0" anchor="ctr"/>
          <a:lstStyle/>
          <a:p>
            <a:pPr marL="0" indent="0">
              <a:buNone/>
            </a:pPr>
            <a:r>
              <a:rPr lang="en-US" sz="1400" dirty="0">
                <a:solidFill>
                  <a:schemeClr val="tx1"/>
                </a:solidFill>
              </a:rPr>
              <a:t>Delivery time by city</a:t>
            </a:r>
            <a:endParaRPr lang="en-US" sz="1400" dirty="0"/>
          </a:p>
        </p:txBody>
      </p:sp>
      <p:sp>
        <p:nvSpPr>
          <p:cNvPr id="45" name="Link: Go to Delivery time by city">
            <a:hlinkClick r:id="rId15" action="ppaction://hlinksldjump" tooltip="Go to Delivery time by city"/>
          </p:cNvPr>
          <p:cNvSpPr/>
          <p:nvPr/>
        </p:nvSpPr>
        <p:spPr>
          <a:xfrm>
            <a:off x="6272784" y="3611880"/>
            <a:ext cx="2459736" cy="347472"/>
          </a:xfrm>
          <a:prstGeom prst="rect">
            <a:avLst/>
          </a:prstGeom>
          <a:solidFill>
            <a:srgbClr val="FFFFFF">
              <a:alpha val="0"/>
            </a:srgbClr>
          </a:solidFill>
          <a:ln/>
        </p:spPr>
      </p:sp>
      <p:sp>
        <p:nvSpPr>
          <p:cNvPr id="46" name="Slide no."/>
          <p:cNvSpPr txBox="1"/>
          <p:nvPr/>
        </p:nvSpPr>
        <p:spPr>
          <a:xfrm>
            <a:off x="6364224" y="402336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13</a:t>
            </a:r>
            <a:endParaRPr lang="en-US" sz="1200" dirty="0"/>
          </a:p>
        </p:txBody>
      </p:sp>
      <p:sp>
        <p:nvSpPr>
          <p:cNvPr id="47" name="Agenda item"/>
          <p:cNvSpPr txBox="1"/>
          <p:nvPr/>
        </p:nvSpPr>
        <p:spPr>
          <a:xfrm>
            <a:off x="6729984" y="4023360"/>
            <a:ext cx="1956816" cy="347472"/>
          </a:xfrm>
          <a:prstGeom prst="rect">
            <a:avLst/>
          </a:prstGeom>
          <a:noFill/>
          <a:ln/>
        </p:spPr>
        <p:txBody>
          <a:bodyPr wrap="square" lIns="0" tIns="0" rIns="0" bIns="0" rtlCol="0" anchor="ctr"/>
          <a:lstStyle/>
          <a:p>
            <a:pPr marL="0" indent="0">
              <a:buNone/>
            </a:pPr>
            <a:r>
              <a:rPr lang="en-US" sz="1400" dirty="0">
                <a:solidFill>
                  <a:schemeClr val="tx1"/>
                </a:solidFill>
              </a:rPr>
              <a:t>Distance vs delay</a:t>
            </a:r>
            <a:endParaRPr lang="en-US" sz="1400" dirty="0"/>
          </a:p>
        </p:txBody>
      </p:sp>
      <p:sp>
        <p:nvSpPr>
          <p:cNvPr id="48" name="Link: Go to Distance vs delay">
            <a:hlinkClick r:id="rId16" action="ppaction://hlinksldjump" tooltip="Go to Distance vs delay"/>
          </p:cNvPr>
          <p:cNvSpPr/>
          <p:nvPr/>
        </p:nvSpPr>
        <p:spPr>
          <a:xfrm>
            <a:off x="6272784" y="4023360"/>
            <a:ext cx="2459736" cy="347472"/>
          </a:xfrm>
          <a:prstGeom prst="rect">
            <a:avLst/>
          </a:prstGeom>
          <a:solidFill>
            <a:srgbClr val="FFFFFF">
              <a:alpha val="0"/>
            </a:srgbClr>
          </a:solidFill>
          <a:ln/>
        </p:spPr>
      </p:sp>
      <p:sp>
        <p:nvSpPr>
          <p:cNvPr id="49" name="Slide no."/>
          <p:cNvSpPr txBox="1"/>
          <p:nvPr/>
        </p:nvSpPr>
        <p:spPr>
          <a:xfrm>
            <a:off x="6364224" y="443484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14</a:t>
            </a:r>
            <a:endParaRPr lang="en-US" sz="1200" dirty="0"/>
          </a:p>
        </p:txBody>
      </p:sp>
      <p:sp>
        <p:nvSpPr>
          <p:cNvPr id="50" name="Agenda item"/>
          <p:cNvSpPr txBox="1"/>
          <p:nvPr/>
        </p:nvSpPr>
        <p:spPr>
          <a:xfrm>
            <a:off x="6729984" y="4434840"/>
            <a:ext cx="1956816" cy="347472"/>
          </a:xfrm>
          <a:prstGeom prst="rect">
            <a:avLst/>
          </a:prstGeom>
          <a:noFill/>
          <a:ln/>
        </p:spPr>
        <p:txBody>
          <a:bodyPr wrap="square" lIns="0" tIns="0" rIns="0" bIns="0" rtlCol="0" anchor="ctr"/>
          <a:lstStyle/>
          <a:p>
            <a:pPr marL="0" indent="0">
              <a:buNone/>
            </a:pPr>
            <a:r>
              <a:rPr lang="en-US" sz="1400" dirty="0">
                <a:solidFill>
                  <a:schemeClr val="tx1"/>
                </a:solidFill>
              </a:rPr>
              <a:t>Rating vs delivery time</a:t>
            </a:r>
            <a:endParaRPr lang="en-US" sz="1400" dirty="0"/>
          </a:p>
        </p:txBody>
      </p:sp>
      <p:sp>
        <p:nvSpPr>
          <p:cNvPr id="51" name="Link: Go to Rating vs delivery time">
            <a:hlinkClick r:id="rId17" action="ppaction://hlinksldjump" tooltip="Go to Rating vs delivery time"/>
          </p:cNvPr>
          <p:cNvSpPr/>
          <p:nvPr/>
        </p:nvSpPr>
        <p:spPr>
          <a:xfrm>
            <a:off x="6272784" y="4434840"/>
            <a:ext cx="2459736" cy="347472"/>
          </a:xfrm>
          <a:prstGeom prst="rect">
            <a:avLst/>
          </a:prstGeom>
          <a:solidFill>
            <a:srgbClr val="FFFFFF">
              <a:alpha val="0"/>
            </a:srgbClr>
          </a:solidFill>
          <a:ln/>
        </p:spPr>
      </p:sp>
      <p:sp>
        <p:nvSpPr>
          <p:cNvPr id="52" name="Agenda card: Restaurants &amp; Cancellations"/>
          <p:cNvSpPr/>
          <p:nvPr/>
        </p:nvSpPr>
        <p:spPr>
          <a:xfrm>
            <a:off x="8997696" y="2148840"/>
            <a:ext cx="2642616" cy="3611880"/>
          </a:xfrm>
          <a:prstGeom prst="roundRect">
            <a:avLst>
              <a:gd name="adj" fmla="val 4152"/>
            </a:avLst>
          </a:prstGeom>
          <a:solidFill>
            <a:schemeClr val="bg2"/>
          </a:solidFill>
          <a:ln/>
        </p:spPr>
      </p:sp>
      <p:sp>
        <p:nvSpPr>
          <p:cNvPr id="53" name="Restaurants icon circle"/>
          <p:cNvSpPr/>
          <p:nvPr/>
        </p:nvSpPr>
        <p:spPr>
          <a:xfrm>
            <a:off x="9180576" y="2331720"/>
            <a:ext cx="566928" cy="566928"/>
          </a:xfrm>
          <a:prstGeom prst="ellipse">
            <a:avLst/>
          </a:prstGeom>
          <a:solidFill>
            <a:schemeClr val="accent3"/>
          </a:solidFill>
          <a:ln/>
        </p:spPr>
      </p:sp>
      <p:pic>
        <p:nvPicPr>
          <p:cNvPr id="54" name="Restaurants icon" descr="Restaurants icon"/>
          <p:cNvPicPr>
            <a:picLocks noChangeAspect="1"/>
          </p:cNvPicPr>
          <p:nvPr/>
        </p:nvPicPr>
        <p:blipFill>
          <a:blip r:embed="rId18"/>
          <a:stretch>
            <a:fillRect/>
          </a:stretch>
        </p:blipFill>
        <p:spPr>
          <a:xfrm>
            <a:off x="9322308" y="2473452"/>
            <a:ext cx="283464" cy="283464"/>
          </a:xfrm>
          <a:prstGeom prst="rect">
            <a:avLst/>
          </a:prstGeom>
        </p:spPr>
      </p:pic>
      <p:sp>
        <p:nvSpPr>
          <p:cNvPr id="55" name="Section name"/>
          <p:cNvSpPr txBox="1"/>
          <p:nvPr/>
        </p:nvSpPr>
        <p:spPr>
          <a:xfrm>
            <a:off x="9180576" y="2971800"/>
            <a:ext cx="2276856" cy="548640"/>
          </a:xfrm>
          <a:prstGeom prst="rect">
            <a:avLst/>
          </a:prstGeom>
          <a:noFill/>
          <a:ln/>
        </p:spPr>
        <p:txBody>
          <a:bodyPr wrap="square" lIns="0" tIns="0" rIns="0" bIns="0" rtlCol="0" anchor="t"/>
          <a:lstStyle/>
          <a:p>
            <a:pPr marL="0" indent="0">
              <a:buNone/>
            </a:pPr>
            <a:r>
              <a:rPr lang="en-US" sz="1600" b="1" dirty="0">
                <a:solidFill>
                  <a:schemeClr val="tx1"/>
                </a:solidFill>
              </a:rPr>
              <a:t>Restaurants &amp; Cancellations</a:t>
            </a:r>
            <a:endParaRPr lang="en-US" sz="1600" dirty="0"/>
          </a:p>
        </p:txBody>
      </p:sp>
      <p:sp>
        <p:nvSpPr>
          <p:cNvPr id="56" name="Slide no."/>
          <p:cNvSpPr txBox="1"/>
          <p:nvPr/>
        </p:nvSpPr>
        <p:spPr>
          <a:xfrm>
            <a:off x="9180576" y="361188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15</a:t>
            </a:r>
            <a:endParaRPr lang="en-US" sz="1200" dirty="0"/>
          </a:p>
        </p:txBody>
      </p:sp>
      <p:sp>
        <p:nvSpPr>
          <p:cNvPr id="57" name="Agenda item"/>
          <p:cNvSpPr txBox="1"/>
          <p:nvPr/>
        </p:nvSpPr>
        <p:spPr>
          <a:xfrm>
            <a:off x="9546336" y="3611880"/>
            <a:ext cx="1956816" cy="347472"/>
          </a:xfrm>
          <a:prstGeom prst="rect">
            <a:avLst/>
          </a:prstGeom>
          <a:noFill/>
          <a:ln/>
        </p:spPr>
        <p:txBody>
          <a:bodyPr wrap="square" lIns="0" tIns="0" rIns="0" bIns="0" rtlCol="0" anchor="ctr"/>
          <a:lstStyle/>
          <a:p>
            <a:pPr marL="0" indent="0">
              <a:buNone/>
            </a:pPr>
            <a:r>
              <a:rPr lang="en-US" sz="1400" dirty="0">
                <a:solidFill>
                  <a:schemeClr val="tx1"/>
                </a:solidFill>
              </a:rPr>
              <a:t>Top-rated restaurants</a:t>
            </a:r>
            <a:endParaRPr lang="en-US" sz="1400" dirty="0"/>
          </a:p>
        </p:txBody>
      </p:sp>
      <p:sp>
        <p:nvSpPr>
          <p:cNvPr id="58" name="Link: Go to Top-rated restaurants">
            <a:hlinkClick r:id="rId19" action="ppaction://hlinksldjump" tooltip="Go to Top-rated restaurants"/>
          </p:cNvPr>
          <p:cNvSpPr/>
          <p:nvPr/>
        </p:nvSpPr>
        <p:spPr>
          <a:xfrm>
            <a:off x="9089136" y="3611880"/>
            <a:ext cx="2459736" cy="347472"/>
          </a:xfrm>
          <a:prstGeom prst="rect">
            <a:avLst/>
          </a:prstGeom>
          <a:solidFill>
            <a:srgbClr val="FFFFFF">
              <a:alpha val="0"/>
            </a:srgbClr>
          </a:solidFill>
          <a:ln/>
        </p:spPr>
      </p:sp>
      <p:sp>
        <p:nvSpPr>
          <p:cNvPr id="59" name="Slide no."/>
          <p:cNvSpPr txBox="1"/>
          <p:nvPr/>
        </p:nvSpPr>
        <p:spPr>
          <a:xfrm>
            <a:off x="9180576" y="402336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16</a:t>
            </a:r>
            <a:endParaRPr lang="en-US" sz="1200" dirty="0"/>
          </a:p>
        </p:txBody>
      </p:sp>
      <p:sp>
        <p:nvSpPr>
          <p:cNvPr id="60" name="Agenda item"/>
          <p:cNvSpPr txBox="1"/>
          <p:nvPr/>
        </p:nvSpPr>
        <p:spPr>
          <a:xfrm>
            <a:off x="9546336" y="4023360"/>
            <a:ext cx="1956816" cy="347472"/>
          </a:xfrm>
          <a:prstGeom prst="rect">
            <a:avLst/>
          </a:prstGeom>
          <a:noFill/>
          <a:ln/>
        </p:spPr>
        <p:txBody>
          <a:bodyPr wrap="square" lIns="0" tIns="0" rIns="0" bIns="0" rtlCol="0" anchor="ctr"/>
          <a:lstStyle/>
          <a:p>
            <a:pPr marL="0" indent="0">
              <a:buNone/>
            </a:pPr>
            <a:r>
              <a:rPr lang="en-US" sz="1400" dirty="0">
                <a:solidFill>
                  <a:schemeClr val="tx1"/>
                </a:solidFill>
              </a:rPr>
              <a:t>Cancellation rate</a:t>
            </a:r>
            <a:endParaRPr lang="en-US" sz="1400" dirty="0"/>
          </a:p>
        </p:txBody>
      </p:sp>
      <p:sp>
        <p:nvSpPr>
          <p:cNvPr id="61" name="Link: Go to Cancellation rate">
            <a:hlinkClick r:id="rId20" action="ppaction://hlinksldjump" tooltip="Go to Cancellation rate"/>
          </p:cNvPr>
          <p:cNvSpPr/>
          <p:nvPr/>
        </p:nvSpPr>
        <p:spPr>
          <a:xfrm>
            <a:off x="9089136" y="4023360"/>
            <a:ext cx="2459736" cy="347472"/>
          </a:xfrm>
          <a:prstGeom prst="rect">
            <a:avLst/>
          </a:prstGeom>
          <a:solidFill>
            <a:srgbClr val="FFFFFF">
              <a:alpha val="0"/>
            </a:srgbClr>
          </a:solidFill>
          <a:ln/>
        </p:spPr>
      </p:sp>
      <p:sp>
        <p:nvSpPr>
          <p:cNvPr id="62" name="Slide no."/>
          <p:cNvSpPr txBox="1"/>
          <p:nvPr/>
        </p:nvSpPr>
        <p:spPr>
          <a:xfrm>
            <a:off x="9180576" y="4434840"/>
            <a:ext cx="365760" cy="347472"/>
          </a:xfrm>
          <a:prstGeom prst="rect">
            <a:avLst/>
          </a:prstGeom>
          <a:noFill/>
          <a:ln/>
        </p:spPr>
        <p:txBody>
          <a:bodyPr wrap="square" lIns="0" tIns="0" rIns="0" bIns="0" rtlCol="0" anchor="ctr"/>
          <a:lstStyle/>
          <a:p>
            <a:pPr marL="0" indent="0">
              <a:buNone/>
            </a:pPr>
            <a:r>
              <a:rPr lang="en-US" sz="1200" b="1" dirty="0">
                <a:solidFill>
                  <a:schemeClr val="accent1"/>
                </a:solidFill>
              </a:rPr>
              <a:t>17</a:t>
            </a:r>
            <a:endParaRPr lang="en-US" sz="1200" dirty="0"/>
          </a:p>
        </p:txBody>
      </p:sp>
      <p:sp>
        <p:nvSpPr>
          <p:cNvPr id="63" name="Agenda item"/>
          <p:cNvSpPr txBox="1"/>
          <p:nvPr/>
        </p:nvSpPr>
        <p:spPr>
          <a:xfrm>
            <a:off x="9546336" y="4434840"/>
            <a:ext cx="1956816" cy="347472"/>
          </a:xfrm>
          <a:prstGeom prst="rect">
            <a:avLst/>
          </a:prstGeom>
          <a:noFill/>
          <a:ln/>
        </p:spPr>
        <p:txBody>
          <a:bodyPr wrap="square" lIns="0" tIns="0" rIns="0" bIns="0" rtlCol="0" anchor="ctr"/>
          <a:lstStyle/>
          <a:p>
            <a:pPr marL="0" indent="0">
              <a:buNone/>
            </a:pPr>
            <a:r>
              <a:rPr lang="en-US" sz="1400" dirty="0">
                <a:solidFill>
                  <a:schemeClr val="tx1"/>
                </a:solidFill>
              </a:rPr>
              <a:t>Cancellation reasons</a:t>
            </a:r>
            <a:endParaRPr lang="en-US" sz="1400" dirty="0"/>
          </a:p>
        </p:txBody>
      </p:sp>
      <p:sp>
        <p:nvSpPr>
          <p:cNvPr id="64" name="Link: Go to Cancellation reasons">
            <a:hlinkClick r:id="rId21" action="ppaction://hlinksldjump" tooltip="Go to Cancellation reasons"/>
          </p:cNvPr>
          <p:cNvSpPr/>
          <p:nvPr/>
        </p:nvSpPr>
        <p:spPr>
          <a:xfrm>
            <a:off x="9089136" y="4434840"/>
            <a:ext cx="2459736" cy="347472"/>
          </a:xfrm>
          <a:prstGeom prst="rect">
            <a:avLst/>
          </a:prstGeom>
          <a:solidFill>
            <a:srgbClr val="FFFFFF">
              <a:alpha val="0"/>
            </a:srgbClr>
          </a:solidFill>
          <a:ln/>
        </p:spPr>
      </p:sp>
      <p:sp>
        <p:nvSpPr>
          <p:cNvPr id="65" name="Takeaways bar"/>
          <p:cNvSpPr/>
          <p:nvPr/>
        </p:nvSpPr>
        <p:spPr>
          <a:xfrm>
            <a:off x="548640" y="5897880"/>
            <a:ext cx="11091672" cy="420624"/>
          </a:xfrm>
          <a:prstGeom prst="roundRect">
            <a:avLst>
              <a:gd name="adj" fmla="val 26087"/>
            </a:avLst>
          </a:prstGeom>
          <a:solidFill>
            <a:schemeClr val="tx2"/>
          </a:solidFill>
          <a:ln/>
        </p:spPr>
      </p:sp>
      <p:sp>
        <p:nvSpPr>
          <p:cNvPr id="66" name="Takeaways label"/>
          <p:cNvSpPr txBox="1"/>
          <p:nvPr/>
        </p:nvSpPr>
        <p:spPr>
          <a:xfrm>
            <a:off x="777240" y="5897880"/>
            <a:ext cx="7315200" cy="420624"/>
          </a:xfrm>
          <a:prstGeom prst="rect">
            <a:avLst/>
          </a:prstGeom>
          <a:noFill/>
          <a:ln/>
        </p:spPr>
        <p:txBody>
          <a:bodyPr wrap="square" lIns="0" tIns="0" rIns="0" bIns="0" rtlCol="0" anchor="ctr"/>
          <a:lstStyle/>
          <a:p>
            <a:pPr marL="0" indent="0">
              <a:buNone/>
            </a:pPr>
            <a:r>
              <a:rPr lang="en-US" sz="1400" b="1" dirty="0">
                <a:solidFill>
                  <a:schemeClr val="bg1"/>
                </a:solidFill>
              </a:rPr>
              <a:t>18   Key takeaways and next steps</a:t>
            </a:r>
            <a:endParaRPr lang="en-US" sz="1400" dirty="0"/>
          </a:p>
        </p:txBody>
      </p:sp>
      <p:sp>
        <p:nvSpPr>
          <p:cNvPr id="67" name="Link: Go to key takeaways">
            <a:hlinkClick r:id="rId22" action="ppaction://hlinksldjump" tooltip="Go to key takeaways"/>
          </p:cNvPr>
          <p:cNvSpPr/>
          <p:nvPr/>
        </p:nvSpPr>
        <p:spPr>
          <a:xfrm>
            <a:off x="548640" y="5897880"/>
            <a:ext cx="11091672" cy="420624"/>
          </a:xfrm>
          <a:prstGeom prst="rect">
            <a:avLst/>
          </a:prstGeom>
          <a:solidFill>
            <a:srgbClr val="FFFFFF">
              <a:alpha val="0"/>
            </a:srgbClr>
          </a:solidFill>
          <a:ln/>
        </p:spPr>
      </p:sp>
      <p:sp>
        <p:nvSpPr>
          <p:cNvPr id="68"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Top-Spending Customers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CUST5267 spent the most; the #1 customer is 13% ahead of #5.</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01  CUSTOMERS &amp; ORDERS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accent1"/>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01168"/>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22376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48,727"/>
          <p:cNvSpPr/>
          <p:nvPr/>
        </p:nvSpPr>
        <p:spPr>
          <a:xfrm>
            <a:off x="8138160" y="2194560"/>
            <a:ext cx="3502152" cy="1417320"/>
          </a:xfrm>
          <a:prstGeom prst="roundRect">
            <a:avLst>
              <a:gd name="adj" fmla="val 7742"/>
            </a:avLst>
          </a:prstGeom>
          <a:solidFill>
            <a:schemeClr val="bg2"/>
          </a:solidFill>
          <a:ln/>
        </p:spPr>
      </p:sp>
      <p:sp>
        <p:nvSpPr>
          <p:cNvPr id="23" name="Stat value"/>
          <p:cNvSpPr txBox="1"/>
          <p:nvPr/>
        </p:nvSpPr>
        <p:spPr>
          <a:xfrm>
            <a:off x="8366760" y="2304288"/>
            <a:ext cx="3044952" cy="708660"/>
          </a:xfrm>
          <a:prstGeom prst="rect">
            <a:avLst/>
          </a:prstGeom>
          <a:noFill/>
          <a:ln/>
        </p:spPr>
        <p:txBody>
          <a:bodyPr wrap="square" lIns="0" tIns="0" rIns="0" bIns="0" rtlCol="0" anchor="b"/>
          <a:lstStyle/>
          <a:p>
            <a:pPr marL="0" indent="0">
              <a:buNone/>
            </a:pPr>
            <a:r>
              <a:rPr lang="en-US" sz="3200" b="1" dirty="0">
                <a:solidFill>
                  <a:schemeClr val="accent1"/>
                </a:solidFill>
              </a:rPr>
              <a:t>48,727</a:t>
            </a:r>
            <a:endParaRPr lang="en-US" sz="3200" dirty="0"/>
          </a:p>
        </p:txBody>
      </p:sp>
      <p:sp>
        <p:nvSpPr>
          <p:cNvPr id="24" name="Stat label"/>
          <p:cNvSpPr txBox="1"/>
          <p:nvPr/>
        </p:nvSpPr>
        <p:spPr>
          <a:xfrm>
            <a:off x="8366760" y="29599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CUST5267 total delivered-order spending</a:t>
            </a:r>
            <a:endParaRPr lang="en-US" sz="1400" dirty="0"/>
          </a:p>
        </p:txBody>
      </p:sp>
      <p:sp>
        <p:nvSpPr>
          <p:cNvPr id="25" name="Stat card: +13%"/>
          <p:cNvSpPr/>
          <p:nvPr/>
        </p:nvSpPr>
        <p:spPr>
          <a:xfrm>
            <a:off x="8138160" y="3794760"/>
            <a:ext cx="3502152" cy="1417320"/>
          </a:xfrm>
          <a:prstGeom prst="roundRect">
            <a:avLst>
              <a:gd name="adj" fmla="val 7742"/>
            </a:avLst>
          </a:prstGeom>
          <a:solidFill>
            <a:schemeClr val="bg2"/>
          </a:solidFill>
          <a:ln/>
        </p:spPr>
      </p:sp>
      <p:sp>
        <p:nvSpPr>
          <p:cNvPr id="26" name="Stat value"/>
          <p:cNvSpPr txBox="1"/>
          <p:nvPr/>
        </p:nvSpPr>
        <p:spPr>
          <a:xfrm>
            <a:off x="8366760" y="3904488"/>
            <a:ext cx="3044952" cy="708660"/>
          </a:xfrm>
          <a:prstGeom prst="rect">
            <a:avLst/>
          </a:prstGeom>
          <a:noFill/>
          <a:ln/>
        </p:spPr>
        <p:txBody>
          <a:bodyPr wrap="square" lIns="0" tIns="0" rIns="0" bIns="0" rtlCol="0" anchor="b"/>
          <a:lstStyle/>
          <a:p>
            <a:pPr marL="0" indent="0">
              <a:buNone/>
            </a:pPr>
            <a:r>
              <a:rPr lang="en-US" sz="3200" b="1" dirty="0">
                <a:solidFill>
                  <a:schemeClr val="accent4"/>
                </a:solidFill>
              </a:rPr>
              <a:t>+13%</a:t>
            </a:r>
            <a:endParaRPr lang="en-US" sz="3200" dirty="0"/>
          </a:p>
        </p:txBody>
      </p:sp>
      <p:sp>
        <p:nvSpPr>
          <p:cNvPr id="27" name="Stat label"/>
          <p:cNvSpPr txBox="1"/>
          <p:nvPr/>
        </p:nvSpPr>
        <p:spPr>
          <a:xfrm>
            <a:off x="8366760" y="45601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gap between the #1 and #5 customers</a:t>
            </a:r>
            <a:endParaRPr lang="en-US" sz="1400" dirty="0"/>
          </a:p>
        </p:txBody>
      </p:sp>
      <p:sp>
        <p:nvSpPr>
          <p:cNvPr id="28" name="Chart note"/>
          <p:cNvSpPr txBox="1"/>
          <p:nvPr/>
        </p:nvSpPr>
        <p:spPr>
          <a:xfrm>
            <a:off x="8138160" y="5394960"/>
            <a:ext cx="3502152" cy="731520"/>
          </a:xfrm>
          <a:prstGeom prst="rect">
            <a:avLst/>
          </a:prstGeom>
          <a:noFill/>
          <a:ln/>
        </p:spPr>
        <p:txBody>
          <a:bodyPr wrap="square" lIns="0" tIns="0" rIns="0" bIns="0" rtlCol="0" anchor="t"/>
          <a:lstStyle/>
          <a:p>
            <a:pPr marL="0" indent="0">
              <a:buNone/>
            </a:pPr>
            <a:r>
              <a:rPr lang="en-US" sz="1400" i="1" dirty="0">
                <a:solidFill>
                  <a:schemeClr val="accent5"/>
                </a:solidFill>
              </a:rPr>
              <a:t>Ranked by total spending, not average order size.</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Age Group vs Order Value</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Order value is almost identical across age groups, within about 1%.</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01  CUSTOMERS &amp; ORDERS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accent1"/>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22376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1,799.14"/>
          <p:cNvSpPr/>
          <p:nvPr/>
        </p:nvSpPr>
        <p:spPr>
          <a:xfrm>
            <a:off x="8138160" y="2194560"/>
            <a:ext cx="3502152" cy="1188720"/>
          </a:xfrm>
          <a:prstGeom prst="roundRect">
            <a:avLst>
              <a:gd name="adj" fmla="val 9231"/>
            </a:avLst>
          </a:prstGeom>
          <a:solidFill>
            <a:schemeClr val="bg2"/>
          </a:solidFill>
          <a:ln/>
        </p:spPr>
      </p:sp>
      <p:sp>
        <p:nvSpPr>
          <p:cNvPr id="23" name="Stat value"/>
          <p:cNvSpPr txBox="1"/>
          <p:nvPr/>
        </p:nvSpPr>
        <p:spPr>
          <a:xfrm>
            <a:off x="8366760" y="2304288"/>
            <a:ext cx="3044952" cy="594360"/>
          </a:xfrm>
          <a:prstGeom prst="rect">
            <a:avLst/>
          </a:prstGeom>
          <a:noFill/>
          <a:ln/>
        </p:spPr>
        <p:txBody>
          <a:bodyPr wrap="square" lIns="0" tIns="0" rIns="0" bIns="0" rtlCol="0" anchor="b"/>
          <a:lstStyle/>
          <a:p>
            <a:pPr marL="0" indent="0">
              <a:buNone/>
            </a:pPr>
            <a:r>
              <a:rPr lang="en-US" sz="3200" b="1" dirty="0">
                <a:solidFill>
                  <a:schemeClr val="accent1"/>
                </a:solidFill>
              </a:rPr>
              <a:t>1,799.14</a:t>
            </a:r>
            <a:endParaRPr lang="en-US" sz="3200" dirty="0"/>
          </a:p>
        </p:txBody>
      </p:sp>
      <p:sp>
        <p:nvSpPr>
          <p:cNvPr id="24" name="Stat label"/>
          <p:cNvSpPr txBox="1"/>
          <p:nvPr/>
        </p:nvSpPr>
        <p:spPr>
          <a:xfrm>
            <a:off x="8366760" y="2836469"/>
            <a:ext cx="3044952" cy="499262"/>
          </a:xfrm>
          <a:prstGeom prst="rect">
            <a:avLst/>
          </a:prstGeom>
          <a:noFill/>
          <a:ln/>
        </p:spPr>
        <p:txBody>
          <a:bodyPr wrap="square" lIns="0" tIns="0" rIns="0" bIns="0" rtlCol="0" anchor="t"/>
          <a:lstStyle/>
          <a:p>
            <a:pPr marL="0" indent="0">
              <a:buNone/>
            </a:pPr>
            <a:r>
              <a:rPr lang="en-US" sz="1400" dirty="0">
                <a:solidFill>
                  <a:schemeClr val="accent5"/>
                </a:solidFill>
              </a:rPr>
              <a:t>Highest: age 25–35</a:t>
            </a:r>
            <a:endParaRPr lang="en-US" sz="1400" dirty="0"/>
          </a:p>
        </p:txBody>
      </p:sp>
      <p:sp>
        <p:nvSpPr>
          <p:cNvPr id="25" name="Stat card: 1,779.14"/>
          <p:cNvSpPr/>
          <p:nvPr/>
        </p:nvSpPr>
        <p:spPr>
          <a:xfrm>
            <a:off x="8138160" y="3566160"/>
            <a:ext cx="3502152" cy="1188720"/>
          </a:xfrm>
          <a:prstGeom prst="roundRect">
            <a:avLst>
              <a:gd name="adj" fmla="val 9231"/>
            </a:avLst>
          </a:prstGeom>
          <a:solidFill>
            <a:schemeClr val="bg2"/>
          </a:solidFill>
          <a:ln/>
        </p:spPr>
      </p:sp>
      <p:sp>
        <p:nvSpPr>
          <p:cNvPr id="26" name="Stat value"/>
          <p:cNvSpPr txBox="1"/>
          <p:nvPr/>
        </p:nvSpPr>
        <p:spPr>
          <a:xfrm>
            <a:off x="8366760" y="3675888"/>
            <a:ext cx="3044952" cy="594360"/>
          </a:xfrm>
          <a:prstGeom prst="rect">
            <a:avLst/>
          </a:prstGeom>
          <a:noFill/>
          <a:ln/>
        </p:spPr>
        <p:txBody>
          <a:bodyPr wrap="square" lIns="0" tIns="0" rIns="0" bIns="0" rtlCol="0" anchor="b"/>
          <a:lstStyle/>
          <a:p>
            <a:pPr marL="0" indent="0">
              <a:buNone/>
            </a:pPr>
            <a:r>
              <a:rPr lang="en-US" sz="3200" b="1" dirty="0">
                <a:solidFill>
                  <a:schemeClr val="accent4"/>
                </a:solidFill>
              </a:rPr>
              <a:t>1,779.14</a:t>
            </a:r>
            <a:endParaRPr lang="en-US" sz="3200" dirty="0"/>
          </a:p>
        </p:txBody>
      </p:sp>
      <p:sp>
        <p:nvSpPr>
          <p:cNvPr id="27" name="Stat label"/>
          <p:cNvSpPr txBox="1"/>
          <p:nvPr/>
        </p:nvSpPr>
        <p:spPr>
          <a:xfrm>
            <a:off x="8366760" y="4208069"/>
            <a:ext cx="3044952" cy="499262"/>
          </a:xfrm>
          <a:prstGeom prst="rect">
            <a:avLst/>
          </a:prstGeom>
          <a:noFill/>
          <a:ln/>
        </p:spPr>
        <p:txBody>
          <a:bodyPr wrap="square" lIns="0" tIns="0" rIns="0" bIns="0" rtlCol="0" anchor="t"/>
          <a:lstStyle/>
          <a:p>
            <a:pPr marL="0" indent="0">
              <a:buNone/>
            </a:pPr>
            <a:r>
              <a:rPr lang="en-US" sz="1400" dirty="0">
                <a:solidFill>
                  <a:schemeClr val="accent5"/>
                </a:solidFill>
              </a:rPr>
              <a:t>Lowest: age 36–50</a:t>
            </a:r>
            <a:endParaRPr lang="en-US" sz="1400" dirty="0"/>
          </a:p>
        </p:txBody>
      </p:sp>
      <p:sp>
        <p:nvSpPr>
          <p:cNvPr id="28" name="Stat card: 1.1%"/>
          <p:cNvSpPr/>
          <p:nvPr/>
        </p:nvSpPr>
        <p:spPr>
          <a:xfrm>
            <a:off x="8138160" y="4937760"/>
            <a:ext cx="3502152" cy="1188720"/>
          </a:xfrm>
          <a:prstGeom prst="roundRect">
            <a:avLst>
              <a:gd name="adj" fmla="val 9231"/>
            </a:avLst>
          </a:prstGeom>
          <a:solidFill>
            <a:schemeClr val="bg2"/>
          </a:solidFill>
          <a:ln/>
        </p:spPr>
      </p:sp>
      <p:sp>
        <p:nvSpPr>
          <p:cNvPr id="29" name="Stat value"/>
          <p:cNvSpPr txBox="1"/>
          <p:nvPr/>
        </p:nvSpPr>
        <p:spPr>
          <a:xfrm>
            <a:off x="8366760" y="5047488"/>
            <a:ext cx="3044952" cy="594360"/>
          </a:xfrm>
          <a:prstGeom prst="rect">
            <a:avLst/>
          </a:prstGeom>
          <a:noFill/>
          <a:ln/>
        </p:spPr>
        <p:txBody>
          <a:bodyPr wrap="square" lIns="0" tIns="0" rIns="0" bIns="0" rtlCol="0" anchor="b"/>
          <a:lstStyle/>
          <a:p>
            <a:pPr marL="0" indent="0">
              <a:buNone/>
            </a:pPr>
            <a:r>
              <a:rPr lang="en-US" sz="3200" b="1" dirty="0">
                <a:solidFill>
                  <a:schemeClr val="accent4"/>
                </a:solidFill>
              </a:rPr>
              <a:t>1.1%</a:t>
            </a:r>
            <a:endParaRPr lang="en-US" sz="3200" dirty="0"/>
          </a:p>
        </p:txBody>
      </p:sp>
      <p:sp>
        <p:nvSpPr>
          <p:cNvPr id="30" name="Stat label"/>
          <p:cNvSpPr txBox="1"/>
          <p:nvPr/>
        </p:nvSpPr>
        <p:spPr>
          <a:xfrm>
            <a:off x="8366760" y="5579669"/>
            <a:ext cx="3044952" cy="499262"/>
          </a:xfrm>
          <a:prstGeom prst="rect">
            <a:avLst/>
          </a:prstGeom>
          <a:noFill/>
          <a:ln/>
        </p:spPr>
        <p:txBody>
          <a:bodyPr wrap="square" lIns="0" tIns="0" rIns="0" bIns="0" rtlCol="0" anchor="t"/>
          <a:lstStyle/>
          <a:p>
            <a:pPr marL="0" indent="0">
              <a:buNone/>
            </a:pPr>
            <a:r>
              <a:rPr lang="en-US" sz="1400" dirty="0">
                <a:solidFill>
                  <a:schemeClr val="accent5"/>
                </a:solidFill>
              </a:rPr>
              <a:t>gap between highest and lowest</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Weekend vs Weekday Order Patterns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Weekdays hold 72% of orders, but per day the volume is nearly the same.</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01  CUSTOMERS &amp; ORDERS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accent1"/>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512064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14,326"/>
          <p:cNvSpPr/>
          <p:nvPr/>
        </p:nvSpPr>
        <p:spPr>
          <a:xfrm>
            <a:off x="6126480" y="2194560"/>
            <a:ext cx="2670048" cy="1828800"/>
          </a:xfrm>
          <a:prstGeom prst="roundRect">
            <a:avLst>
              <a:gd name="adj" fmla="val 6000"/>
            </a:avLst>
          </a:prstGeom>
          <a:solidFill>
            <a:schemeClr val="bg2"/>
          </a:solidFill>
          <a:ln/>
        </p:spPr>
      </p:sp>
      <p:sp>
        <p:nvSpPr>
          <p:cNvPr id="23" name="Stat value"/>
          <p:cNvSpPr txBox="1"/>
          <p:nvPr/>
        </p:nvSpPr>
        <p:spPr>
          <a:xfrm>
            <a:off x="6355080" y="2304288"/>
            <a:ext cx="2212848" cy="914400"/>
          </a:xfrm>
          <a:prstGeom prst="rect">
            <a:avLst/>
          </a:prstGeom>
          <a:noFill/>
          <a:ln/>
        </p:spPr>
        <p:txBody>
          <a:bodyPr wrap="square" lIns="0" tIns="0" rIns="0" bIns="0" rtlCol="0" anchor="b"/>
          <a:lstStyle/>
          <a:p>
            <a:pPr marL="0" indent="0">
              <a:buNone/>
            </a:pPr>
            <a:r>
              <a:rPr lang="en-US" sz="3200" b="1" dirty="0">
                <a:solidFill>
                  <a:schemeClr val="accent1"/>
                </a:solidFill>
              </a:rPr>
              <a:t>14,326</a:t>
            </a:r>
            <a:endParaRPr lang="en-US" sz="3200" dirty="0"/>
          </a:p>
        </p:txBody>
      </p:sp>
      <p:sp>
        <p:nvSpPr>
          <p:cNvPr id="24" name="Stat label"/>
          <p:cNvSpPr txBox="1"/>
          <p:nvPr/>
        </p:nvSpPr>
        <p:spPr>
          <a:xfrm>
            <a:off x="6355080" y="3182112"/>
            <a:ext cx="2212848" cy="768096"/>
          </a:xfrm>
          <a:prstGeom prst="rect">
            <a:avLst/>
          </a:prstGeom>
          <a:noFill/>
          <a:ln/>
        </p:spPr>
        <p:txBody>
          <a:bodyPr wrap="square" lIns="0" tIns="0" rIns="0" bIns="0" rtlCol="0" anchor="t"/>
          <a:lstStyle/>
          <a:p>
            <a:pPr marL="0" indent="0">
              <a:buNone/>
            </a:pPr>
            <a:r>
              <a:rPr lang="en-US" sz="1400" dirty="0">
                <a:solidFill>
                  <a:schemeClr val="accent5"/>
                </a:solidFill>
              </a:rPr>
              <a:t>per weekday (71,632 ÷ 5)</a:t>
            </a:r>
            <a:endParaRPr lang="en-US" sz="1400" dirty="0"/>
          </a:p>
        </p:txBody>
      </p:sp>
      <p:sp>
        <p:nvSpPr>
          <p:cNvPr id="25" name="Stat card: 14,184"/>
          <p:cNvSpPr/>
          <p:nvPr/>
        </p:nvSpPr>
        <p:spPr>
          <a:xfrm>
            <a:off x="8970264" y="2194560"/>
            <a:ext cx="2670048" cy="1828800"/>
          </a:xfrm>
          <a:prstGeom prst="roundRect">
            <a:avLst>
              <a:gd name="adj" fmla="val 6000"/>
            </a:avLst>
          </a:prstGeom>
          <a:solidFill>
            <a:schemeClr val="bg2"/>
          </a:solidFill>
          <a:ln/>
        </p:spPr>
      </p:sp>
      <p:sp>
        <p:nvSpPr>
          <p:cNvPr id="26" name="Stat value"/>
          <p:cNvSpPr txBox="1"/>
          <p:nvPr/>
        </p:nvSpPr>
        <p:spPr>
          <a:xfrm>
            <a:off x="9198864" y="2304288"/>
            <a:ext cx="2212848" cy="914400"/>
          </a:xfrm>
          <a:prstGeom prst="rect">
            <a:avLst/>
          </a:prstGeom>
          <a:noFill/>
          <a:ln/>
        </p:spPr>
        <p:txBody>
          <a:bodyPr wrap="square" lIns="0" tIns="0" rIns="0" bIns="0" rtlCol="0" anchor="b"/>
          <a:lstStyle/>
          <a:p>
            <a:pPr marL="0" indent="0">
              <a:buNone/>
            </a:pPr>
            <a:r>
              <a:rPr lang="en-US" sz="3200" b="1" dirty="0">
                <a:solidFill>
                  <a:schemeClr val="accent4"/>
                </a:solidFill>
              </a:rPr>
              <a:t>14,184</a:t>
            </a:r>
            <a:endParaRPr lang="en-US" sz="3200" dirty="0"/>
          </a:p>
        </p:txBody>
      </p:sp>
      <p:sp>
        <p:nvSpPr>
          <p:cNvPr id="27" name="Stat label"/>
          <p:cNvSpPr txBox="1"/>
          <p:nvPr/>
        </p:nvSpPr>
        <p:spPr>
          <a:xfrm>
            <a:off x="9198864" y="3182112"/>
            <a:ext cx="2212848" cy="768096"/>
          </a:xfrm>
          <a:prstGeom prst="rect">
            <a:avLst/>
          </a:prstGeom>
          <a:noFill/>
          <a:ln/>
        </p:spPr>
        <p:txBody>
          <a:bodyPr wrap="square" lIns="0" tIns="0" rIns="0" bIns="0" rtlCol="0" anchor="t"/>
          <a:lstStyle/>
          <a:p>
            <a:pPr marL="0" indent="0">
              <a:buNone/>
            </a:pPr>
            <a:r>
              <a:rPr lang="en-US" sz="1400" dirty="0">
                <a:solidFill>
                  <a:schemeClr val="accent5"/>
                </a:solidFill>
              </a:rPr>
              <a:t>per weekend day (28,368 ÷ 2)</a:t>
            </a:r>
            <a:endParaRPr lang="en-US" sz="1400" dirty="0"/>
          </a:p>
        </p:txBody>
      </p:sp>
      <p:sp>
        <p:nvSpPr>
          <p:cNvPr id="28" name="Insight card"/>
          <p:cNvSpPr/>
          <p:nvPr/>
        </p:nvSpPr>
        <p:spPr>
          <a:xfrm>
            <a:off x="6126480" y="4206240"/>
            <a:ext cx="5513832" cy="2011680"/>
          </a:xfrm>
          <a:prstGeom prst="roundRect">
            <a:avLst>
              <a:gd name="adj" fmla="val 5455"/>
            </a:avLst>
          </a:prstGeom>
          <a:solidFill>
            <a:schemeClr val="bg2"/>
          </a:solidFill>
          <a:ln/>
        </p:spPr>
      </p:sp>
      <p:sp>
        <p:nvSpPr>
          <p:cNvPr id="29" name="Insight text"/>
          <p:cNvSpPr txBox="1"/>
          <p:nvPr/>
        </p:nvSpPr>
        <p:spPr>
          <a:xfrm>
            <a:off x="6355080" y="4343400"/>
            <a:ext cx="5074920" cy="1737360"/>
          </a:xfrm>
          <a:prstGeom prst="rect">
            <a:avLst/>
          </a:prstGeom>
          <a:noFill/>
          <a:ln/>
        </p:spPr>
        <p:txBody>
          <a:bodyPr wrap="square" lIns="0" tIns="0" rIns="0" bIns="0" rtlCol="0" anchor="t"/>
          <a:lstStyle/>
          <a:p>
            <a:pPr marL="0" indent="0">
              <a:spcAft>
                <a:spcPts val="600"/>
              </a:spcAft>
              <a:buNone/>
            </a:pPr>
            <a:r>
              <a:rPr lang="en-US" sz="1800" b="1" dirty="0">
                <a:solidFill>
                  <a:schemeClr val="tx1"/>
                </a:solidFill>
              </a:rPr>
              <a:t>Same demand, fewer days</a:t>
            </a:r>
            <a:endParaRPr lang="en-US" sz="1800" dirty="0"/>
          </a:p>
          <a:p>
            <a:pPr marL="0" indent="0">
              <a:spcAft>
                <a:spcPts val="600"/>
              </a:spcAft>
              <a:buNone/>
            </a:pPr>
            <a:r>
              <a:rPr lang="en-US" sz="1400" dirty="0">
                <a:solidFill>
                  <a:schemeClr val="accent5"/>
                </a:solidFill>
              </a:rPr>
              <a:t>Weekends make up 28% of orders, close to their 2/7 (29%) share of the week. Staffing can follow the calendar rather than a weekend surge.</a:t>
            </a:r>
            <a:endParaRPr lang="en-US" sz="18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Peak Hour Demand Analysis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Peak and off-peak orders are level, and one in three orders has no peak-hour label.</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01  CUSTOMERS &amp; ORDERS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accent1"/>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22376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33%"/>
          <p:cNvSpPr/>
          <p:nvPr/>
        </p:nvSpPr>
        <p:spPr>
          <a:xfrm>
            <a:off x="8138160" y="2194560"/>
            <a:ext cx="3502152" cy="1417320"/>
          </a:xfrm>
          <a:prstGeom prst="roundRect">
            <a:avLst>
              <a:gd name="adj" fmla="val 7742"/>
            </a:avLst>
          </a:prstGeom>
          <a:solidFill>
            <a:schemeClr val="bg2"/>
          </a:solidFill>
          <a:ln/>
        </p:spPr>
      </p:sp>
      <p:sp>
        <p:nvSpPr>
          <p:cNvPr id="23" name="Stat value"/>
          <p:cNvSpPr txBox="1"/>
          <p:nvPr/>
        </p:nvSpPr>
        <p:spPr>
          <a:xfrm>
            <a:off x="8366760" y="2304288"/>
            <a:ext cx="3044952" cy="708660"/>
          </a:xfrm>
          <a:prstGeom prst="rect">
            <a:avLst/>
          </a:prstGeom>
          <a:noFill/>
          <a:ln/>
        </p:spPr>
        <p:txBody>
          <a:bodyPr wrap="square" lIns="0" tIns="0" rIns="0" bIns="0" rtlCol="0" anchor="b"/>
          <a:lstStyle/>
          <a:p>
            <a:pPr marL="0" indent="0">
              <a:buNone/>
            </a:pPr>
            <a:r>
              <a:rPr lang="en-US" sz="3200" b="1" dirty="0">
                <a:solidFill>
                  <a:schemeClr val="accent1"/>
                </a:solidFill>
              </a:rPr>
              <a:t>33%</a:t>
            </a:r>
            <a:endParaRPr lang="en-US" sz="3200" dirty="0"/>
          </a:p>
        </p:txBody>
      </p:sp>
      <p:sp>
        <p:nvSpPr>
          <p:cNvPr id="24" name="Stat label"/>
          <p:cNvSpPr txBox="1"/>
          <p:nvPr/>
        </p:nvSpPr>
        <p:spPr>
          <a:xfrm>
            <a:off x="8366760" y="29599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of orders are labelled Unknown for peak hour</a:t>
            </a:r>
            <a:endParaRPr lang="en-US" sz="1400" dirty="0"/>
          </a:p>
        </p:txBody>
      </p:sp>
      <p:sp>
        <p:nvSpPr>
          <p:cNvPr id="25" name="Stat card: 0.4%"/>
          <p:cNvSpPr/>
          <p:nvPr/>
        </p:nvSpPr>
        <p:spPr>
          <a:xfrm>
            <a:off x="8138160" y="3794760"/>
            <a:ext cx="3502152" cy="1417320"/>
          </a:xfrm>
          <a:prstGeom prst="roundRect">
            <a:avLst>
              <a:gd name="adj" fmla="val 7742"/>
            </a:avLst>
          </a:prstGeom>
          <a:solidFill>
            <a:schemeClr val="bg2"/>
          </a:solidFill>
          <a:ln/>
        </p:spPr>
      </p:sp>
      <p:sp>
        <p:nvSpPr>
          <p:cNvPr id="26" name="Stat value"/>
          <p:cNvSpPr txBox="1"/>
          <p:nvPr/>
        </p:nvSpPr>
        <p:spPr>
          <a:xfrm>
            <a:off x="8366760" y="3904488"/>
            <a:ext cx="3044952" cy="708660"/>
          </a:xfrm>
          <a:prstGeom prst="rect">
            <a:avLst/>
          </a:prstGeom>
          <a:noFill/>
          <a:ln/>
        </p:spPr>
        <p:txBody>
          <a:bodyPr wrap="square" lIns="0" tIns="0" rIns="0" bIns="0" rtlCol="0" anchor="b"/>
          <a:lstStyle/>
          <a:p>
            <a:pPr marL="0" indent="0">
              <a:buNone/>
            </a:pPr>
            <a:r>
              <a:rPr lang="en-US" sz="3200" b="1" dirty="0">
                <a:solidFill>
                  <a:schemeClr val="accent4"/>
                </a:solidFill>
              </a:rPr>
              <a:t>0.4%</a:t>
            </a:r>
            <a:endParaRPr lang="en-US" sz="3200" dirty="0"/>
          </a:p>
        </p:txBody>
      </p:sp>
      <p:sp>
        <p:nvSpPr>
          <p:cNvPr id="27" name="Stat label"/>
          <p:cNvSpPr txBox="1"/>
          <p:nvPr/>
        </p:nvSpPr>
        <p:spPr>
          <a:xfrm>
            <a:off x="8366760" y="45601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gap between Off-Peak and Peak orders</a:t>
            </a:r>
            <a:endParaRPr lang="en-US" sz="1400" dirty="0"/>
          </a:p>
        </p:txBody>
      </p:sp>
      <p:sp>
        <p:nvSpPr>
          <p:cNvPr id="28" name="Chart note"/>
          <p:cNvSpPr txBox="1"/>
          <p:nvPr/>
        </p:nvSpPr>
        <p:spPr>
          <a:xfrm>
            <a:off x="8138160" y="5394960"/>
            <a:ext cx="3502152" cy="731520"/>
          </a:xfrm>
          <a:prstGeom prst="rect">
            <a:avLst/>
          </a:prstGeom>
          <a:noFill/>
          <a:ln/>
        </p:spPr>
        <p:txBody>
          <a:bodyPr wrap="square" lIns="0" tIns="0" rIns="0" bIns="0" rtlCol="0" anchor="t"/>
          <a:lstStyle/>
          <a:p>
            <a:pPr marL="0" indent="0">
              <a:buNone/>
            </a:pPr>
            <a:r>
              <a:rPr lang="en-US" sz="1400" i="1" dirty="0">
                <a:solidFill>
                  <a:schemeClr val="accent5"/>
                </a:solidFill>
              </a:rPr>
              <a:t>Fix peak-hour tagging before using it for staffing.</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Payment Mode Preferences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All four payment modes are used almost equally, about 25% each.</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01  CUSTOMERS &amp; ORDERS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accent1"/>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22376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25%"/>
          <p:cNvSpPr/>
          <p:nvPr/>
        </p:nvSpPr>
        <p:spPr>
          <a:xfrm>
            <a:off x="8138160" y="2194560"/>
            <a:ext cx="3502152" cy="1417320"/>
          </a:xfrm>
          <a:prstGeom prst="roundRect">
            <a:avLst>
              <a:gd name="adj" fmla="val 7742"/>
            </a:avLst>
          </a:prstGeom>
          <a:solidFill>
            <a:schemeClr val="bg2"/>
          </a:solidFill>
          <a:ln/>
        </p:spPr>
      </p:sp>
      <p:sp>
        <p:nvSpPr>
          <p:cNvPr id="23" name="Stat value"/>
          <p:cNvSpPr txBox="1"/>
          <p:nvPr/>
        </p:nvSpPr>
        <p:spPr>
          <a:xfrm>
            <a:off x="8366760" y="2304288"/>
            <a:ext cx="3044952" cy="708660"/>
          </a:xfrm>
          <a:prstGeom prst="rect">
            <a:avLst/>
          </a:prstGeom>
          <a:noFill/>
          <a:ln/>
        </p:spPr>
        <p:txBody>
          <a:bodyPr wrap="square" lIns="0" tIns="0" rIns="0" bIns="0" rtlCol="0" anchor="b"/>
          <a:lstStyle/>
          <a:p>
            <a:pPr marL="0" indent="0">
              <a:buNone/>
            </a:pPr>
            <a:r>
              <a:rPr lang="en-US" sz="3200" b="1" dirty="0">
                <a:solidFill>
                  <a:schemeClr val="accent1"/>
                </a:solidFill>
              </a:rPr>
              <a:t>≈25%</a:t>
            </a:r>
            <a:endParaRPr lang="en-US" sz="3200" dirty="0"/>
          </a:p>
        </p:txBody>
      </p:sp>
      <p:sp>
        <p:nvSpPr>
          <p:cNvPr id="24" name="Stat label"/>
          <p:cNvSpPr txBox="1"/>
          <p:nvPr/>
        </p:nvSpPr>
        <p:spPr>
          <a:xfrm>
            <a:off x="8366760" y="29599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share of orders for each payment mode</a:t>
            </a:r>
            <a:endParaRPr lang="en-US" sz="1400" dirty="0"/>
          </a:p>
        </p:txBody>
      </p:sp>
      <p:sp>
        <p:nvSpPr>
          <p:cNvPr id="25" name="Stat card: 162"/>
          <p:cNvSpPr/>
          <p:nvPr/>
        </p:nvSpPr>
        <p:spPr>
          <a:xfrm>
            <a:off x="8138160" y="3794760"/>
            <a:ext cx="3502152" cy="1417320"/>
          </a:xfrm>
          <a:prstGeom prst="roundRect">
            <a:avLst>
              <a:gd name="adj" fmla="val 7742"/>
            </a:avLst>
          </a:prstGeom>
          <a:solidFill>
            <a:schemeClr val="bg2"/>
          </a:solidFill>
          <a:ln/>
        </p:spPr>
      </p:sp>
      <p:sp>
        <p:nvSpPr>
          <p:cNvPr id="26" name="Stat value"/>
          <p:cNvSpPr txBox="1"/>
          <p:nvPr/>
        </p:nvSpPr>
        <p:spPr>
          <a:xfrm>
            <a:off x="8366760" y="3904488"/>
            <a:ext cx="3044952" cy="708660"/>
          </a:xfrm>
          <a:prstGeom prst="rect">
            <a:avLst/>
          </a:prstGeom>
          <a:noFill/>
          <a:ln/>
        </p:spPr>
        <p:txBody>
          <a:bodyPr wrap="square" lIns="0" tIns="0" rIns="0" bIns="0" rtlCol="0" anchor="b"/>
          <a:lstStyle/>
          <a:p>
            <a:pPr marL="0" indent="0">
              <a:buNone/>
            </a:pPr>
            <a:r>
              <a:rPr lang="en-US" sz="3200" b="1" dirty="0">
                <a:solidFill>
                  <a:schemeClr val="accent4"/>
                </a:solidFill>
              </a:rPr>
              <a:t>162</a:t>
            </a:r>
            <a:endParaRPr lang="en-US" sz="3200" dirty="0"/>
          </a:p>
        </p:txBody>
      </p:sp>
      <p:sp>
        <p:nvSpPr>
          <p:cNvPr id="27" name="Stat label"/>
          <p:cNvSpPr txBox="1"/>
          <p:nvPr/>
        </p:nvSpPr>
        <p:spPr>
          <a:xfrm>
            <a:off x="8366760" y="45601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orders separate Card (1st) from UPI (4th)</a:t>
            </a:r>
            <a:endParaRPr lang="en-US" sz="1400" dirty="0"/>
          </a:p>
        </p:txBody>
      </p:sp>
      <p:sp>
        <p:nvSpPr>
          <p:cNvPr id="28" name="Chart note"/>
          <p:cNvSpPr txBox="1"/>
          <p:nvPr/>
        </p:nvSpPr>
        <p:spPr>
          <a:xfrm>
            <a:off x="8138160" y="5394960"/>
            <a:ext cx="3502152" cy="731520"/>
          </a:xfrm>
          <a:prstGeom prst="rect">
            <a:avLst/>
          </a:prstGeom>
          <a:noFill/>
          <a:ln/>
        </p:spPr>
        <p:txBody>
          <a:bodyPr wrap="square" lIns="0" tIns="0" rIns="0" bIns="0" rtlCol="0" anchor="t"/>
          <a:lstStyle/>
          <a:p>
            <a:pPr marL="0" indent="0">
              <a:buNone/>
            </a:pPr>
            <a:r>
              <a:rPr lang="en-US" sz="1400" i="1" dirty="0">
                <a:solidFill>
                  <a:schemeClr val="accent5"/>
                </a:solidFill>
              </a:rPr>
              <a:t>Based on the 80,089 orders in this chart.</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Monthly Revenue Trends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Revenue holds near 14M a month, with a clear spike in July.</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02  REVENUE &amp; PROFIT</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accent1"/>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58952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16.44M"/>
          <p:cNvSpPr/>
          <p:nvPr/>
        </p:nvSpPr>
        <p:spPr>
          <a:xfrm>
            <a:off x="8412480" y="2194560"/>
            <a:ext cx="3227832" cy="1188720"/>
          </a:xfrm>
          <a:prstGeom prst="roundRect">
            <a:avLst>
              <a:gd name="adj" fmla="val 9231"/>
            </a:avLst>
          </a:prstGeom>
          <a:solidFill>
            <a:schemeClr val="bg2"/>
          </a:solidFill>
          <a:ln/>
        </p:spPr>
      </p:sp>
      <p:sp>
        <p:nvSpPr>
          <p:cNvPr id="23" name="Stat value"/>
          <p:cNvSpPr txBox="1"/>
          <p:nvPr/>
        </p:nvSpPr>
        <p:spPr>
          <a:xfrm>
            <a:off x="8641080" y="2304288"/>
            <a:ext cx="2770632" cy="594360"/>
          </a:xfrm>
          <a:prstGeom prst="rect">
            <a:avLst/>
          </a:prstGeom>
          <a:noFill/>
          <a:ln/>
        </p:spPr>
        <p:txBody>
          <a:bodyPr wrap="square" lIns="0" tIns="0" rIns="0" bIns="0" rtlCol="0" anchor="b"/>
          <a:lstStyle/>
          <a:p>
            <a:pPr marL="0" indent="0">
              <a:buNone/>
            </a:pPr>
            <a:r>
              <a:rPr lang="en-US" sz="3200" b="1" dirty="0">
                <a:solidFill>
                  <a:schemeClr val="accent1"/>
                </a:solidFill>
              </a:rPr>
              <a:t>16.44M</a:t>
            </a:r>
            <a:endParaRPr lang="en-US" sz="3200" dirty="0"/>
          </a:p>
        </p:txBody>
      </p:sp>
      <p:sp>
        <p:nvSpPr>
          <p:cNvPr id="24" name="Stat label"/>
          <p:cNvSpPr txBox="1"/>
          <p:nvPr/>
        </p:nvSpPr>
        <p:spPr>
          <a:xfrm>
            <a:off x="8641080" y="28364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July: the peak month</a:t>
            </a:r>
            <a:endParaRPr lang="en-US" sz="1400" dirty="0"/>
          </a:p>
        </p:txBody>
      </p:sp>
      <p:sp>
        <p:nvSpPr>
          <p:cNvPr id="25" name="Stat card: +17%"/>
          <p:cNvSpPr/>
          <p:nvPr/>
        </p:nvSpPr>
        <p:spPr>
          <a:xfrm>
            <a:off x="8412480" y="3566160"/>
            <a:ext cx="3227832" cy="1188720"/>
          </a:xfrm>
          <a:prstGeom prst="roundRect">
            <a:avLst>
              <a:gd name="adj" fmla="val 9231"/>
            </a:avLst>
          </a:prstGeom>
          <a:solidFill>
            <a:schemeClr val="bg2"/>
          </a:solidFill>
          <a:ln/>
        </p:spPr>
      </p:sp>
      <p:sp>
        <p:nvSpPr>
          <p:cNvPr id="26" name="Stat value"/>
          <p:cNvSpPr txBox="1"/>
          <p:nvPr/>
        </p:nvSpPr>
        <p:spPr>
          <a:xfrm>
            <a:off x="8641080" y="3675888"/>
            <a:ext cx="2770632" cy="594360"/>
          </a:xfrm>
          <a:prstGeom prst="rect">
            <a:avLst/>
          </a:prstGeom>
          <a:noFill/>
          <a:ln/>
        </p:spPr>
        <p:txBody>
          <a:bodyPr wrap="square" lIns="0" tIns="0" rIns="0" bIns="0" rtlCol="0" anchor="b"/>
          <a:lstStyle/>
          <a:p>
            <a:pPr marL="0" indent="0">
              <a:buNone/>
            </a:pPr>
            <a:r>
              <a:rPr lang="en-US" sz="3200" b="1" dirty="0">
                <a:solidFill>
                  <a:schemeClr val="accent4"/>
                </a:solidFill>
              </a:rPr>
              <a:t>+17%</a:t>
            </a:r>
            <a:endParaRPr lang="en-US" sz="3200" dirty="0"/>
          </a:p>
        </p:txBody>
      </p:sp>
      <p:sp>
        <p:nvSpPr>
          <p:cNvPr id="27" name="Stat label"/>
          <p:cNvSpPr txBox="1"/>
          <p:nvPr/>
        </p:nvSpPr>
        <p:spPr>
          <a:xfrm>
            <a:off x="8641080" y="42080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above the other 11 months' average (14.04M)</a:t>
            </a:r>
            <a:endParaRPr lang="en-US" sz="1400" dirty="0"/>
          </a:p>
        </p:txBody>
      </p:sp>
      <p:sp>
        <p:nvSpPr>
          <p:cNvPr id="28" name="Stat card: 13.47M"/>
          <p:cNvSpPr/>
          <p:nvPr/>
        </p:nvSpPr>
        <p:spPr>
          <a:xfrm>
            <a:off x="8412480" y="4937760"/>
            <a:ext cx="3227832" cy="1188720"/>
          </a:xfrm>
          <a:prstGeom prst="roundRect">
            <a:avLst>
              <a:gd name="adj" fmla="val 9231"/>
            </a:avLst>
          </a:prstGeom>
          <a:solidFill>
            <a:schemeClr val="bg2"/>
          </a:solidFill>
          <a:ln/>
        </p:spPr>
      </p:sp>
      <p:sp>
        <p:nvSpPr>
          <p:cNvPr id="29" name="Stat value"/>
          <p:cNvSpPr txBox="1"/>
          <p:nvPr/>
        </p:nvSpPr>
        <p:spPr>
          <a:xfrm>
            <a:off x="8641080" y="5047488"/>
            <a:ext cx="2770632" cy="594360"/>
          </a:xfrm>
          <a:prstGeom prst="rect">
            <a:avLst/>
          </a:prstGeom>
          <a:noFill/>
          <a:ln/>
        </p:spPr>
        <p:txBody>
          <a:bodyPr wrap="square" lIns="0" tIns="0" rIns="0" bIns="0" rtlCol="0" anchor="b"/>
          <a:lstStyle/>
          <a:p>
            <a:pPr marL="0" indent="0">
              <a:buNone/>
            </a:pPr>
            <a:r>
              <a:rPr lang="en-US" sz="3200" b="1" dirty="0">
                <a:solidFill>
                  <a:schemeClr val="accent4"/>
                </a:solidFill>
              </a:rPr>
              <a:t>13.47M</a:t>
            </a:r>
            <a:endParaRPr lang="en-US" sz="3200" dirty="0"/>
          </a:p>
        </p:txBody>
      </p:sp>
      <p:sp>
        <p:nvSpPr>
          <p:cNvPr id="30" name="Stat label"/>
          <p:cNvSpPr txBox="1"/>
          <p:nvPr/>
        </p:nvSpPr>
        <p:spPr>
          <a:xfrm>
            <a:off x="8641080" y="55796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lowest month: February</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Impact of Discounts on Profit</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Profit barely moves with discount size: every bucket sits between 14.1% and 15.4%.</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02  REVENUE &amp; PROFIT</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accent1"/>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58952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14.1%"/>
          <p:cNvSpPr/>
          <p:nvPr/>
        </p:nvSpPr>
        <p:spPr>
          <a:xfrm>
            <a:off x="8412480" y="2194560"/>
            <a:ext cx="3227832" cy="1188720"/>
          </a:xfrm>
          <a:prstGeom prst="roundRect">
            <a:avLst>
              <a:gd name="adj" fmla="val 9231"/>
            </a:avLst>
          </a:prstGeom>
          <a:solidFill>
            <a:schemeClr val="bg2"/>
          </a:solidFill>
          <a:ln/>
        </p:spPr>
      </p:sp>
      <p:sp>
        <p:nvSpPr>
          <p:cNvPr id="23" name="Stat value"/>
          <p:cNvSpPr txBox="1"/>
          <p:nvPr/>
        </p:nvSpPr>
        <p:spPr>
          <a:xfrm>
            <a:off x="8641080" y="2304288"/>
            <a:ext cx="2770632" cy="594360"/>
          </a:xfrm>
          <a:prstGeom prst="rect">
            <a:avLst/>
          </a:prstGeom>
          <a:noFill/>
          <a:ln/>
        </p:spPr>
        <p:txBody>
          <a:bodyPr wrap="square" lIns="0" tIns="0" rIns="0" bIns="0" rtlCol="0" anchor="b"/>
          <a:lstStyle/>
          <a:p>
            <a:pPr marL="0" indent="0">
              <a:buNone/>
            </a:pPr>
            <a:r>
              <a:rPr lang="en-US" sz="3200" b="1" dirty="0">
                <a:solidFill>
                  <a:schemeClr val="accent1"/>
                </a:solidFill>
              </a:rPr>
              <a:t>14.1%</a:t>
            </a:r>
            <a:endParaRPr lang="en-US" sz="3200" dirty="0"/>
          </a:p>
        </p:txBody>
      </p:sp>
      <p:sp>
        <p:nvSpPr>
          <p:cNvPr id="24" name="Stat label"/>
          <p:cNvSpPr txBox="1"/>
          <p:nvPr/>
        </p:nvSpPr>
        <p:spPr>
          <a:xfrm>
            <a:off x="8641080" y="28364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lowest: 200–249 bucket</a:t>
            </a:r>
            <a:endParaRPr lang="en-US" sz="1400" dirty="0"/>
          </a:p>
        </p:txBody>
      </p:sp>
      <p:sp>
        <p:nvSpPr>
          <p:cNvPr id="25" name="Stat card: 15.4%"/>
          <p:cNvSpPr/>
          <p:nvPr/>
        </p:nvSpPr>
        <p:spPr>
          <a:xfrm>
            <a:off x="8412480" y="3566160"/>
            <a:ext cx="3227832" cy="1188720"/>
          </a:xfrm>
          <a:prstGeom prst="roundRect">
            <a:avLst>
              <a:gd name="adj" fmla="val 9231"/>
            </a:avLst>
          </a:prstGeom>
          <a:solidFill>
            <a:schemeClr val="bg2"/>
          </a:solidFill>
          <a:ln/>
        </p:spPr>
      </p:sp>
      <p:sp>
        <p:nvSpPr>
          <p:cNvPr id="26" name="Stat value"/>
          <p:cNvSpPr txBox="1"/>
          <p:nvPr/>
        </p:nvSpPr>
        <p:spPr>
          <a:xfrm>
            <a:off x="8641080" y="3675888"/>
            <a:ext cx="2770632" cy="594360"/>
          </a:xfrm>
          <a:prstGeom prst="rect">
            <a:avLst/>
          </a:prstGeom>
          <a:noFill/>
          <a:ln/>
        </p:spPr>
        <p:txBody>
          <a:bodyPr wrap="square" lIns="0" tIns="0" rIns="0" bIns="0" rtlCol="0" anchor="b"/>
          <a:lstStyle/>
          <a:p>
            <a:pPr marL="0" indent="0">
              <a:buNone/>
            </a:pPr>
            <a:r>
              <a:rPr lang="en-US" sz="3200" b="1" dirty="0">
                <a:solidFill>
                  <a:schemeClr val="accent2"/>
                </a:solidFill>
              </a:rPr>
              <a:t>15.4%</a:t>
            </a:r>
            <a:endParaRPr lang="en-US" sz="3200" dirty="0"/>
          </a:p>
        </p:txBody>
      </p:sp>
      <p:sp>
        <p:nvSpPr>
          <p:cNvPr id="27" name="Stat label"/>
          <p:cNvSpPr txBox="1"/>
          <p:nvPr/>
        </p:nvSpPr>
        <p:spPr>
          <a:xfrm>
            <a:off x="8641080" y="42080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highest: 250–299 bucket</a:t>
            </a:r>
            <a:endParaRPr lang="en-US" sz="1400" dirty="0"/>
          </a:p>
        </p:txBody>
      </p:sp>
      <p:sp>
        <p:nvSpPr>
          <p:cNvPr id="28" name="Stat card: 1.3 pts"/>
          <p:cNvSpPr/>
          <p:nvPr/>
        </p:nvSpPr>
        <p:spPr>
          <a:xfrm>
            <a:off x="8412480" y="4937760"/>
            <a:ext cx="3227832" cy="1188720"/>
          </a:xfrm>
          <a:prstGeom prst="roundRect">
            <a:avLst>
              <a:gd name="adj" fmla="val 9231"/>
            </a:avLst>
          </a:prstGeom>
          <a:solidFill>
            <a:schemeClr val="bg2"/>
          </a:solidFill>
          <a:ln/>
        </p:spPr>
      </p:sp>
      <p:sp>
        <p:nvSpPr>
          <p:cNvPr id="29" name="Stat value"/>
          <p:cNvSpPr txBox="1"/>
          <p:nvPr/>
        </p:nvSpPr>
        <p:spPr>
          <a:xfrm>
            <a:off x="8641080" y="5047488"/>
            <a:ext cx="2770632" cy="594360"/>
          </a:xfrm>
          <a:prstGeom prst="rect">
            <a:avLst/>
          </a:prstGeom>
          <a:noFill/>
          <a:ln/>
        </p:spPr>
        <p:txBody>
          <a:bodyPr wrap="square" lIns="0" tIns="0" rIns="0" bIns="0" rtlCol="0" anchor="b"/>
          <a:lstStyle/>
          <a:p>
            <a:pPr marL="0" indent="0">
              <a:buNone/>
            </a:pPr>
            <a:r>
              <a:rPr lang="en-US" sz="3200" b="1" dirty="0">
                <a:solidFill>
                  <a:schemeClr val="accent4"/>
                </a:solidFill>
              </a:rPr>
              <a:t>1.3 pts</a:t>
            </a:r>
            <a:endParaRPr lang="en-US" sz="3200" dirty="0"/>
          </a:p>
        </p:txBody>
      </p:sp>
      <p:sp>
        <p:nvSpPr>
          <p:cNvPr id="30" name="Stat label"/>
          <p:cNvSpPr txBox="1"/>
          <p:nvPr/>
        </p:nvSpPr>
        <p:spPr>
          <a:xfrm>
            <a:off x="8641080" y="55796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spread across all buckets</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High-Revenue Cities and Cuisines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Revenue is spread evenly: the leading city and cuisine are only about 2% ahead of the rest.</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02  REVENUE &amp; PROFIT</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accent1"/>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5440680" cy="342900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2" name="Chart 1"/>
          <p:cNvGraphicFramePr/>
          <p:nvPr/>
        </p:nvGraphicFramePr>
        <p:xfrm>
          <a:off x="6199632" y="2194560"/>
          <a:ext cx="5440680" cy="3429000"/>
        </p:xfrm>
        <a:graphic>
          <a:graphicData uri="http://schemas.openxmlformats.org/drawingml/2006/chart">
            <c:chart xmlns:c="http://schemas.openxmlformats.org/drawingml/2006/chart" xmlns:r="http://schemas.openxmlformats.org/officeDocument/2006/relationships" r:id="rId9"/>
          </a:graphicData>
        </a:graphic>
      </p:graphicFrame>
      <p:sp>
        <p:nvSpPr>
          <p:cNvPr id="23" name="Insight bar"/>
          <p:cNvSpPr/>
          <p:nvPr/>
        </p:nvSpPr>
        <p:spPr>
          <a:xfrm>
            <a:off x="548640" y="5760720"/>
            <a:ext cx="11091672" cy="502920"/>
          </a:xfrm>
          <a:prstGeom prst="roundRect">
            <a:avLst>
              <a:gd name="adj" fmla="val 21818"/>
            </a:avLst>
          </a:prstGeom>
          <a:solidFill>
            <a:schemeClr val="bg2"/>
          </a:solidFill>
          <a:ln/>
        </p:spPr>
      </p:sp>
      <p:sp>
        <p:nvSpPr>
          <p:cNvPr id="24" name="Insight text"/>
          <p:cNvSpPr txBox="1"/>
          <p:nvPr/>
        </p:nvSpPr>
        <p:spPr>
          <a:xfrm>
            <a:off x="777240" y="5760720"/>
            <a:ext cx="10634472" cy="502920"/>
          </a:xfrm>
          <a:prstGeom prst="rect">
            <a:avLst/>
          </a:prstGeom>
          <a:noFill/>
          <a:ln/>
        </p:spPr>
        <p:txBody>
          <a:bodyPr wrap="square" lIns="0" tIns="0" rIns="0" bIns="0" rtlCol="0" anchor="ctr"/>
          <a:lstStyle/>
          <a:p>
            <a:pPr marL="0" indent="0">
              <a:buNone/>
            </a:pPr>
            <a:r>
              <a:rPr lang="en-US" sz="1400" dirty="0">
                <a:solidFill>
                  <a:schemeClr val="tx1"/>
                </a:solidFill>
              </a:rPr>
              <a:t>Bangalore leads cities by 2.3% over #5 Mumbai.  Indian leads cuisines by 2.0% over #5 Italian.</a:t>
            </a:r>
            <a:endParaRPr lang="en-US" sz="1400" dirty="0"/>
          </a:p>
        </p:txBody>
      </p:sp>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Cuisine-Wise Performance</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Indian leads on orders and revenue, Italian on rating; the gaps between cuisines are small.</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02  REVENUE &amp; PROFIT</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accent1"/>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sp>
        <p:nvSpPr>
          <p:cNvPr id="21" name="Image card: Rating by cuisine"/>
          <p:cNvSpPr/>
          <p:nvPr/>
        </p:nvSpPr>
        <p:spPr>
          <a:xfrm>
            <a:off x="548640" y="2148840"/>
            <a:ext cx="3566160" cy="2103120"/>
          </a:xfrm>
          <a:prstGeom prst="roundRect">
            <a:avLst>
              <a:gd name="adj" fmla="val 5217"/>
            </a:avLst>
          </a:prstGeom>
          <a:solidFill>
            <a:schemeClr val="bg2"/>
          </a:solidFill>
          <a:ln/>
        </p:spPr>
      </p:sp>
      <p:pic>
        <p:nvPicPr>
          <p:cNvPr id="22" name="Rating by cuisine" descr="Rating by cuisine bar chart"/>
          <p:cNvPicPr>
            <a:picLocks noChangeAspect="1"/>
          </p:cNvPicPr>
          <p:nvPr/>
        </p:nvPicPr>
        <p:blipFill>
          <a:blip r:embed="rId8"/>
          <a:stretch>
            <a:fillRect/>
          </a:stretch>
        </p:blipFill>
        <p:spPr>
          <a:xfrm>
            <a:off x="640080" y="2240280"/>
            <a:ext cx="3383280" cy="1901952"/>
          </a:xfrm>
          <a:prstGeom prst="rect">
            <a:avLst/>
          </a:prstGeom>
        </p:spPr>
      </p:pic>
      <p:sp>
        <p:nvSpPr>
          <p:cNvPr id="23" name="Image card: Revenue by cuisine"/>
          <p:cNvSpPr/>
          <p:nvPr/>
        </p:nvSpPr>
        <p:spPr>
          <a:xfrm>
            <a:off x="4265676" y="2148840"/>
            <a:ext cx="3566160" cy="2103120"/>
          </a:xfrm>
          <a:prstGeom prst="roundRect">
            <a:avLst>
              <a:gd name="adj" fmla="val 5217"/>
            </a:avLst>
          </a:prstGeom>
          <a:solidFill>
            <a:schemeClr val="bg2"/>
          </a:solidFill>
          <a:ln/>
        </p:spPr>
      </p:sp>
      <p:pic>
        <p:nvPicPr>
          <p:cNvPr id="24" name="Revenue by cuisine" descr="Revenue by cuisine bar chart"/>
          <p:cNvPicPr>
            <a:picLocks noChangeAspect="1"/>
          </p:cNvPicPr>
          <p:nvPr/>
        </p:nvPicPr>
        <p:blipFill>
          <a:blip r:embed="rId9"/>
          <a:stretch>
            <a:fillRect/>
          </a:stretch>
        </p:blipFill>
        <p:spPr>
          <a:xfrm>
            <a:off x="4357116" y="2240280"/>
            <a:ext cx="3383280" cy="1901952"/>
          </a:xfrm>
          <a:prstGeom prst="rect">
            <a:avLst/>
          </a:prstGeom>
        </p:spPr>
      </p:pic>
      <p:sp>
        <p:nvSpPr>
          <p:cNvPr id="25" name="Image card: Orders by cuisine"/>
          <p:cNvSpPr/>
          <p:nvPr/>
        </p:nvSpPr>
        <p:spPr>
          <a:xfrm>
            <a:off x="7982712" y="2148840"/>
            <a:ext cx="3566160" cy="2103120"/>
          </a:xfrm>
          <a:prstGeom prst="roundRect">
            <a:avLst>
              <a:gd name="adj" fmla="val 5217"/>
            </a:avLst>
          </a:prstGeom>
          <a:solidFill>
            <a:schemeClr val="bg2"/>
          </a:solidFill>
          <a:ln/>
        </p:spPr>
      </p:sp>
      <p:pic>
        <p:nvPicPr>
          <p:cNvPr id="26" name="Orders by cuisine" descr="Orders by cuisine bar chart"/>
          <p:cNvPicPr>
            <a:picLocks noChangeAspect="1"/>
          </p:cNvPicPr>
          <p:nvPr/>
        </p:nvPicPr>
        <p:blipFill>
          <a:blip r:embed="rId10"/>
          <a:stretch>
            <a:fillRect/>
          </a:stretch>
        </p:blipFill>
        <p:spPr>
          <a:xfrm>
            <a:off x="8074152" y="2240280"/>
            <a:ext cx="3383280" cy="1901952"/>
          </a:xfrm>
          <a:prstGeom prst="rect">
            <a:avLst/>
          </a:prstGeom>
        </p:spPr>
      </p:pic>
      <p:sp>
        <p:nvSpPr>
          <p:cNvPr id="27" name="Stat card: Indian"/>
          <p:cNvSpPr/>
          <p:nvPr/>
        </p:nvSpPr>
        <p:spPr>
          <a:xfrm>
            <a:off x="548640" y="4434840"/>
            <a:ext cx="2651760" cy="1188720"/>
          </a:xfrm>
          <a:prstGeom prst="roundRect">
            <a:avLst>
              <a:gd name="adj" fmla="val 9231"/>
            </a:avLst>
          </a:prstGeom>
          <a:solidFill>
            <a:schemeClr val="bg2"/>
          </a:solidFill>
          <a:ln/>
        </p:spPr>
      </p:sp>
      <p:sp>
        <p:nvSpPr>
          <p:cNvPr id="28" name="Stat value"/>
          <p:cNvSpPr txBox="1"/>
          <p:nvPr/>
        </p:nvSpPr>
        <p:spPr>
          <a:xfrm>
            <a:off x="777240" y="4544568"/>
            <a:ext cx="2194560" cy="594360"/>
          </a:xfrm>
          <a:prstGeom prst="rect">
            <a:avLst/>
          </a:prstGeom>
          <a:noFill/>
          <a:ln/>
        </p:spPr>
        <p:txBody>
          <a:bodyPr wrap="square" lIns="0" tIns="0" rIns="0" bIns="0" rtlCol="0" anchor="b"/>
          <a:lstStyle/>
          <a:p>
            <a:pPr marL="0" indent="0">
              <a:buNone/>
            </a:pPr>
            <a:r>
              <a:rPr lang="en-US" sz="3200" b="1" dirty="0">
                <a:solidFill>
                  <a:schemeClr val="accent1"/>
                </a:solidFill>
              </a:rPr>
              <a:t>Indian</a:t>
            </a:r>
            <a:endParaRPr lang="en-US" sz="3200" dirty="0"/>
          </a:p>
        </p:txBody>
      </p:sp>
      <p:sp>
        <p:nvSpPr>
          <p:cNvPr id="29" name="Stat label"/>
          <p:cNvSpPr txBox="1"/>
          <p:nvPr/>
        </p:nvSpPr>
        <p:spPr>
          <a:xfrm>
            <a:off x="777240" y="5076749"/>
            <a:ext cx="2194560" cy="499262"/>
          </a:xfrm>
          <a:prstGeom prst="rect">
            <a:avLst/>
          </a:prstGeom>
          <a:noFill/>
          <a:ln/>
        </p:spPr>
        <p:txBody>
          <a:bodyPr wrap="square" lIns="0" tIns="0" rIns="0" bIns="0" rtlCol="0" anchor="t"/>
          <a:lstStyle/>
          <a:p>
            <a:pPr marL="0" indent="0">
              <a:buNone/>
            </a:pPr>
            <a:r>
              <a:rPr lang="en-US" sz="1400" dirty="0">
                <a:solidFill>
                  <a:schemeClr val="accent5"/>
                </a:solidFill>
              </a:rPr>
              <a:t>Highest revenue: 1,717.31</a:t>
            </a:r>
            <a:endParaRPr lang="en-US" sz="1400" dirty="0"/>
          </a:p>
        </p:txBody>
      </p:sp>
      <p:sp>
        <p:nvSpPr>
          <p:cNvPr id="30" name="Stat card: Indian"/>
          <p:cNvSpPr/>
          <p:nvPr/>
        </p:nvSpPr>
        <p:spPr>
          <a:xfrm>
            <a:off x="3362249" y="4434840"/>
            <a:ext cx="2651760" cy="1188720"/>
          </a:xfrm>
          <a:prstGeom prst="roundRect">
            <a:avLst>
              <a:gd name="adj" fmla="val 9231"/>
            </a:avLst>
          </a:prstGeom>
          <a:solidFill>
            <a:schemeClr val="bg2"/>
          </a:solidFill>
          <a:ln/>
        </p:spPr>
      </p:sp>
      <p:sp>
        <p:nvSpPr>
          <p:cNvPr id="31" name="Stat value"/>
          <p:cNvSpPr txBox="1"/>
          <p:nvPr/>
        </p:nvSpPr>
        <p:spPr>
          <a:xfrm>
            <a:off x="3590849" y="4544568"/>
            <a:ext cx="2194560" cy="594360"/>
          </a:xfrm>
          <a:prstGeom prst="rect">
            <a:avLst/>
          </a:prstGeom>
          <a:noFill/>
          <a:ln/>
        </p:spPr>
        <p:txBody>
          <a:bodyPr wrap="square" lIns="0" tIns="0" rIns="0" bIns="0" rtlCol="0" anchor="b"/>
          <a:lstStyle/>
          <a:p>
            <a:pPr marL="0" indent="0">
              <a:buNone/>
            </a:pPr>
            <a:r>
              <a:rPr lang="en-US" sz="3200" b="1" dirty="0">
                <a:solidFill>
                  <a:schemeClr val="accent1"/>
                </a:solidFill>
              </a:rPr>
              <a:t>Indian</a:t>
            </a:r>
            <a:endParaRPr lang="en-US" sz="3200" dirty="0"/>
          </a:p>
        </p:txBody>
      </p:sp>
      <p:sp>
        <p:nvSpPr>
          <p:cNvPr id="32" name="Stat label"/>
          <p:cNvSpPr txBox="1"/>
          <p:nvPr/>
        </p:nvSpPr>
        <p:spPr>
          <a:xfrm>
            <a:off x="3590849" y="5076749"/>
            <a:ext cx="2194560" cy="499262"/>
          </a:xfrm>
          <a:prstGeom prst="rect">
            <a:avLst/>
          </a:prstGeom>
          <a:noFill/>
          <a:ln/>
        </p:spPr>
        <p:txBody>
          <a:bodyPr wrap="square" lIns="0" tIns="0" rIns="0" bIns="0" rtlCol="0" anchor="t"/>
          <a:lstStyle/>
          <a:p>
            <a:pPr marL="0" indent="0">
              <a:buNone/>
            </a:pPr>
            <a:r>
              <a:rPr lang="en-US" sz="1400" dirty="0">
                <a:solidFill>
                  <a:schemeClr val="accent5"/>
                </a:solidFill>
              </a:rPr>
              <a:t>Highest orders: 16,685</a:t>
            </a:r>
            <a:endParaRPr lang="en-US" sz="1400" dirty="0"/>
          </a:p>
        </p:txBody>
      </p:sp>
      <p:sp>
        <p:nvSpPr>
          <p:cNvPr id="33" name="Stat card: Italian"/>
          <p:cNvSpPr/>
          <p:nvPr/>
        </p:nvSpPr>
        <p:spPr>
          <a:xfrm>
            <a:off x="6175858" y="4434840"/>
            <a:ext cx="2651760" cy="1188720"/>
          </a:xfrm>
          <a:prstGeom prst="roundRect">
            <a:avLst>
              <a:gd name="adj" fmla="val 9231"/>
            </a:avLst>
          </a:prstGeom>
          <a:solidFill>
            <a:schemeClr val="bg2"/>
          </a:solidFill>
          <a:ln/>
        </p:spPr>
      </p:sp>
      <p:sp>
        <p:nvSpPr>
          <p:cNvPr id="34" name="Stat value"/>
          <p:cNvSpPr txBox="1"/>
          <p:nvPr/>
        </p:nvSpPr>
        <p:spPr>
          <a:xfrm>
            <a:off x="6404458" y="4544568"/>
            <a:ext cx="2194560" cy="594360"/>
          </a:xfrm>
          <a:prstGeom prst="rect">
            <a:avLst/>
          </a:prstGeom>
          <a:noFill/>
          <a:ln/>
        </p:spPr>
        <p:txBody>
          <a:bodyPr wrap="square" lIns="0" tIns="0" rIns="0" bIns="0" rtlCol="0" anchor="b"/>
          <a:lstStyle/>
          <a:p>
            <a:pPr marL="0" indent="0">
              <a:buNone/>
            </a:pPr>
            <a:r>
              <a:rPr lang="en-US" sz="3200" b="1" dirty="0">
                <a:solidFill>
                  <a:schemeClr val="accent2"/>
                </a:solidFill>
              </a:rPr>
              <a:t>Italian</a:t>
            </a:r>
            <a:endParaRPr lang="en-US" sz="3200" dirty="0"/>
          </a:p>
        </p:txBody>
      </p:sp>
      <p:sp>
        <p:nvSpPr>
          <p:cNvPr id="35" name="Stat label"/>
          <p:cNvSpPr txBox="1"/>
          <p:nvPr/>
        </p:nvSpPr>
        <p:spPr>
          <a:xfrm>
            <a:off x="6404458" y="5076749"/>
            <a:ext cx="2194560" cy="499262"/>
          </a:xfrm>
          <a:prstGeom prst="rect">
            <a:avLst/>
          </a:prstGeom>
          <a:noFill/>
          <a:ln/>
        </p:spPr>
        <p:txBody>
          <a:bodyPr wrap="square" lIns="0" tIns="0" rIns="0" bIns="0" rtlCol="0" anchor="t"/>
          <a:lstStyle/>
          <a:p>
            <a:pPr marL="0" indent="0">
              <a:buNone/>
            </a:pPr>
            <a:r>
              <a:rPr lang="en-US" sz="1400" dirty="0">
                <a:solidFill>
                  <a:schemeClr val="accent5"/>
                </a:solidFill>
              </a:rPr>
              <a:t>Highest avg rating: 4.21 / 5</a:t>
            </a:r>
            <a:endParaRPr lang="en-US" sz="1400" dirty="0"/>
          </a:p>
        </p:txBody>
      </p:sp>
      <p:sp>
        <p:nvSpPr>
          <p:cNvPr id="36" name="Stat card: Arabian"/>
          <p:cNvSpPr/>
          <p:nvPr/>
        </p:nvSpPr>
        <p:spPr>
          <a:xfrm>
            <a:off x="8989466" y="4434840"/>
            <a:ext cx="2651760" cy="1188720"/>
          </a:xfrm>
          <a:prstGeom prst="roundRect">
            <a:avLst>
              <a:gd name="adj" fmla="val 9231"/>
            </a:avLst>
          </a:prstGeom>
          <a:solidFill>
            <a:schemeClr val="bg2"/>
          </a:solidFill>
          <a:ln/>
        </p:spPr>
      </p:sp>
      <p:sp>
        <p:nvSpPr>
          <p:cNvPr id="37" name="Stat value"/>
          <p:cNvSpPr txBox="1"/>
          <p:nvPr/>
        </p:nvSpPr>
        <p:spPr>
          <a:xfrm>
            <a:off x="9218066" y="4544568"/>
            <a:ext cx="2194560" cy="594360"/>
          </a:xfrm>
          <a:prstGeom prst="rect">
            <a:avLst/>
          </a:prstGeom>
          <a:noFill/>
          <a:ln/>
        </p:spPr>
        <p:txBody>
          <a:bodyPr wrap="square" lIns="0" tIns="0" rIns="0" bIns="0" rtlCol="0" anchor="b"/>
          <a:lstStyle/>
          <a:p>
            <a:pPr marL="0" indent="0">
              <a:buNone/>
            </a:pPr>
            <a:r>
              <a:rPr lang="en-US" sz="3200" b="1" dirty="0">
                <a:solidFill>
                  <a:schemeClr val="accent4"/>
                </a:solidFill>
              </a:rPr>
              <a:t>Arabian</a:t>
            </a:r>
            <a:endParaRPr lang="en-US" sz="3200" dirty="0"/>
          </a:p>
        </p:txBody>
      </p:sp>
      <p:sp>
        <p:nvSpPr>
          <p:cNvPr id="38" name="Stat label"/>
          <p:cNvSpPr txBox="1"/>
          <p:nvPr/>
        </p:nvSpPr>
        <p:spPr>
          <a:xfrm>
            <a:off x="9218066" y="5076749"/>
            <a:ext cx="2194560" cy="499262"/>
          </a:xfrm>
          <a:prstGeom prst="rect">
            <a:avLst/>
          </a:prstGeom>
          <a:noFill/>
          <a:ln/>
        </p:spPr>
        <p:txBody>
          <a:bodyPr wrap="square" lIns="0" tIns="0" rIns="0" bIns="0" rtlCol="0" anchor="t"/>
          <a:lstStyle/>
          <a:p>
            <a:pPr marL="0" indent="0">
              <a:buNone/>
            </a:pPr>
            <a:r>
              <a:rPr lang="en-US" sz="1400" dirty="0">
                <a:solidFill>
                  <a:schemeClr val="accent5"/>
                </a:solidFill>
              </a:rPr>
              <a:t>Lowest revenue: 1,692.05</a:t>
            </a:r>
            <a:endParaRPr lang="en-US" sz="1400" dirty="0"/>
          </a:p>
        </p:txBody>
      </p:sp>
      <p:sp>
        <p:nvSpPr>
          <p:cNvPr id="39" name="Conclusion"/>
          <p:cNvSpPr txBox="1"/>
          <p:nvPr/>
        </p:nvSpPr>
        <p:spPr>
          <a:xfrm>
            <a:off x="548640" y="5760720"/>
            <a:ext cx="11091672" cy="502920"/>
          </a:xfrm>
          <a:prstGeom prst="rect">
            <a:avLst/>
          </a:prstGeom>
          <a:noFill/>
          <a:ln/>
        </p:spPr>
        <p:txBody>
          <a:bodyPr wrap="square" lIns="0" tIns="0" rIns="0" bIns="0" rtlCol="0" anchor="ctr"/>
          <a:lstStyle/>
          <a:p>
            <a:pPr marL="0" indent="0">
              <a:buNone/>
            </a:pPr>
            <a:r>
              <a:rPr lang="en-US" sz="1400" dirty="0">
                <a:solidFill>
                  <a:schemeClr val="accent5"/>
                </a:solidFill>
              </a:rPr>
              <a:t>Indian cuisine leads in order volume and revenue, while Italian has the highest average restaurant rating.</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Average Delivery Time by City</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Bangalore and Chennai deliver about 18 minutes faster than the other three cities.</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03  DELIVERY PERFORMANCE</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accent1"/>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22376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18 min"/>
          <p:cNvSpPr/>
          <p:nvPr/>
        </p:nvSpPr>
        <p:spPr>
          <a:xfrm>
            <a:off x="8138160" y="2194560"/>
            <a:ext cx="3502152" cy="1417320"/>
          </a:xfrm>
          <a:prstGeom prst="roundRect">
            <a:avLst>
              <a:gd name="adj" fmla="val 7742"/>
            </a:avLst>
          </a:prstGeom>
          <a:solidFill>
            <a:schemeClr val="bg2"/>
          </a:solidFill>
          <a:ln/>
        </p:spPr>
      </p:sp>
      <p:sp>
        <p:nvSpPr>
          <p:cNvPr id="23" name="Stat value"/>
          <p:cNvSpPr txBox="1"/>
          <p:nvPr/>
        </p:nvSpPr>
        <p:spPr>
          <a:xfrm>
            <a:off x="8366760" y="2304288"/>
            <a:ext cx="3044952" cy="708660"/>
          </a:xfrm>
          <a:prstGeom prst="rect">
            <a:avLst/>
          </a:prstGeom>
          <a:noFill/>
          <a:ln/>
        </p:spPr>
        <p:txBody>
          <a:bodyPr wrap="square" lIns="0" tIns="0" rIns="0" bIns="0" rtlCol="0" anchor="b"/>
          <a:lstStyle/>
          <a:p>
            <a:pPr marL="0" indent="0">
              <a:buNone/>
            </a:pPr>
            <a:r>
              <a:rPr lang="en-US" sz="3200" b="1" dirty="0">
                <a:solidFill>
                  <a:schemeClr val="accent2"/>
                </a:solidFill>
              </a:rPr>
              <a:t>≈18 min</a:t>
            </a:r>
            <a:endParaRPr lang="en-US" sz="3200" dirty="0"/>
          </a:p>
        </p:txBody>
      </p:sp>
      <p:sp>
        <p:nvSpPr>
          <p:cNvPr id="24" name="Stat label"/>
          <p:cNvSpPr txBox="1"/>
          <p:nvPr/>
        </p:nvSpPr>
        <p:spPr>
          <a:xfrm>
            <a:off x="8366760" y="29599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faster in Bangalore and Chennai (≈108 vs ≈126)</a:t>
            </a:r>
            <a:endParaRPr lang="en-US" sz="1400" dirty="0"/>
          </a:p>
        </p:txBody>
      </p:sp>
      <p:sp>
        <p:nvSpPr>
          <p:cNvPr id="25" name="Stat card: 126.5 min"/>
          <p:cNvSpPr/>
          <p:nvPr/>
        </p:nvSpPr>
        <p:spPr>
          <a:xfrm>
            <a:off x="8138160" y="3794760"/>
            <a:ext cx="3502152" cy="1417320"/>
          </a:xfrm>
          <a:prstGeom prst="roundRect">
            <a:avLst>
              <a:gd name="adj" fmla="val 7742"/>
            </a:avLst>
          </a:prstGeom>
          <a:solidFill>
            <a:schemeClr val="bg2"/>
          </a:solidFill>
          <a:ln/>
        </p:spPr>
      </p:sp>
      <p:sp>
        <p:nvSpPr>
          <p:cNvPr id="26" name="Stat value"/>
          <p:cNvSpPr txBox="1"/>
          <p:nvPr/>
        </p:nvSpPr>
        <p:spPr>
          <a:xfrm>
            <a:off x="8366760" y="3904488"/>
            <a:ext cx="3044952" cy="708660"/>
          </a:xfrm>
          <a:prstGeom prst="rect">
            <a:avLst/>
          </a:prstGeom>
          <a:noFill/>
          <a:ln/>
        </p:spPr>
        <p:txBody>
          <a:bodyPr wrap="square" lIns="0" tIns="0" rIns="0" bIns="0" rtlCol="0" anchor="b"/>
          <a:lstStyle/>
          <a:p>
            <a:pPr marL="0" indent="0">
              <a:buNone/>
            </a:pPr>
            <a:r>
              <a:rPr lang="en-US" sz="3200" b="1" dirty="0">
                <a:solidFill>
                  <a:schemeClr val="accent1"/>
                </a:solidFill>
              </a:rPr>
              <a:t>126.5 min</a:t>
            </a:r>
            <a:endParaRPr lang="en-US" sz="3200" dirty="0"/>
          </a:p>
        </p:txBody>
      </p:sp>
      <p:sp>
        <p:nvSpPr>
          <p:cNvPr id="27" name="Stat label"/>
          <p:cNvSpPr txBox="1"/>
          <p:nvPr/>
        </p:nvSpPr>
        <p:spPr>
          <a:xfrm>
            <a:off x="8366760" y="45601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slowest city: Mumbai</a:t>
            </a:r>
            <a:endParaRPr lang="en-US" sz="1400" dirty="0"/>
          </a:p>
        </p:txBody>
      </p:sp>
      <p:sp>
        <p:nvSpPr>
          <p:cNvPr id="28" name="Chart note"/>
          <p:cNvSpPr txBox="1"/>
          <p:nvPr/>
        </p:nvSpPr>
        <p:spPr>
          <a:xfrm>
            <a:off x="8138160" y="5394960"/>
            <a:ext cx="3502152" cy="731520"/>
          </a:xfrm>
          <a:prstGeom prst="rect">
            <a:avLst/>
          </a:prstGeom>
          <a:noFill/>
          <a:ln/>
        </p:spPr>
        <p:txBody>
          <a:bodyPr wrap="square" lIns="0" tIns="0" rIns="0" bIns="0" rtlCol="0" anchor="t"/>
          <a:lstStyle/>
          <a:p>
            <a:pPr marL="0" indent="0">
              <a:buNone/>
            </a:pPr>
            <a:r>
              <a:rPr lang="en-US" sz="1400" i="1" dirty="0">
                <a:solidFill>
                  <a:schemeClr val="accent5"/>
                </a:solidFill>
              </a:rPr>
              <a:t>Teal = faster cities, orange = slower cities.</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Distance vs Delivery Delay</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Distance adds under one minute: long trips take only 0.97 min more than short ones.</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03  DELIVERY PERFORMANCE</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accent1"/>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sp>
        <p:nvSpPr>
          <p:cNvPr id="21" name="Scatter card"/>
          <p:cNvSpPr/>
          <p:nvPr/>
        </p:nvSpPr>
        <p:spPr>
          <a:xfrm>
            <a:off x="548640" y="2194560"/>
            <a:ext cx="5943600" cy="4023360"/>
          </a:xfrm>
          <a:prstGeom prst="roundRect">
            <a:avLst>
              <a:gd name="adj" fmla="val 2727"/>
            </a:avLst>
          </a:prstGeom>
          <a:solidFill>
            <a:schemeClr val="bg2"/>
          </a:solidFill>
          <a:ln/>
        </p:spPr>
      </p:sp>
      <p:pic>
        <p:nvPicPr>
          <p:cNvPr id="22" name="Distance scatter plot" descr="Scatter plot of distance in km against delivery time in minutes"/>
          <p:cNvPicPr>
            <a:picLocks noChangeAspect="1"/>
          </p:cNvPicPr>
          <p:nvPr/>
        </p:nvPicPr>
        <p:blipFill>
          <a:blip r:embed="rId8"/>
          <a:stretch>
            <a:fillRect/>
          </a:stretch>
        </p:blipFill>
        <p:spPr>
          <a:xfrm>
            <a:off x="640080" y="2350008"/>
            <a:ext cx="5760720" cy="3694176"/>
          </a:xfrm>
          <a:prstGeom prst="rect">
            <a:avLst/>
          </a:prstGeom>
        </p:spPr>
      </p:pic>
      <p:graphicFrame>
        <p:nvGraphicFramePr>
          <p:cNvPr id="23" name="Chart 0"/>
          <p:cNvGraphicFramePr/>
          <p:nvPr/>
        </p:nvGraphicFramePr>
        <p:xfrm>
          <a:off x="6766560" y="2194560"/>
          <a:ext cx="4873752" cy="2103120"/>
        </p:xfrm>
        <a:graphic>
          <a:graphicData uri="http://schemas.openxmlformats.org/drawingml/2006/chart">
            <c:chart xmlns:c="http://schemas.openxmlformats.org/drawingml/2006/chart" xmlns:r="http://schemas.openxmlformats.org/officeDocument/2006/relationships" r:id="rId9"/>
          </a:graphicData>
        </a:graphic>
      </p:graphicFrame>
      <p:sp>
        <p:nvSpPr>
          <p:cNvPr id="24" name="Data note card"/>
          <p:cNvSpPr/>
          <p:nvPr/>
        </p:nvSpPr>
        <p:spPr>
          <a:xfrm>
            <a:off x="6766560" y="4480560"/>
            <a:ext cx="4873752" cy="1737360"/>
          </a:xfrm>
          <a:prstGeom prst="roundRect">
            <a:avLst>
              <a:gd name="adj" fmla="val 6316"/>
            </a:avLst>
          </a:prstGeom>
          <a:solidFill>
            <a:schemeClr val="bg2"/>
          </a:solidFill>
          <a:ln/>
        </p:spPr>
      </p:sp>
      <p:sp>
        <p:nvSpPr>
          <p:cNvPr id="25" name="Data note"/>
          <p:cNvSpPr txBox="1"/>
          <p:nvPr/>
        </p:nvSpPr>
        <p:spPr>
          <a:xfrm>
            <a:off x="6995160" y="4572000"/>
            <a:ext cx="4434840" cy="1554480"/>
          </a:xfrm>
          <a:prstGeom prst="rect">
            <a:avLst/>
          </a:prstGeom>
          <a:noFill/>
          <a:ln/>
        </p:spPr>
        <p:txBody>
          <a:bodyPr wrap="square" lIns="0" tIns="0" rIns="0" bIns="0" rtlCol="0" anchor="t"/>
          <a:lstStyle/>
          <a:p>
            <a:pPr marL="0" indent="0">
              <a:spcAft>
                <a:spcPts val="400"/>
              </a:spcAft>
              <a:buNone/>
            </a:pPr>
            <a:r>
              <a:rPr lang="en-US" sz="1600" b="1" dirty="0">
                <a:solidFill>
                  <a:schemeClr val="tx1"/>
                </a:solidFill>
              </a:rPr>
              <a:t>Data note</a:t>
            </a:r>
            <a:endParaRPr lang="en-US" sz="1600" dirty="0"/>
          </a:p>
          <a:p>
            <a:pPr marL="0" indent="0">
              <a:spcAft>
                <a:spcPts val="400"/>
              </a:spcAft>
              <a:buNone/>
            </a:pPr>
            <a:r>
              <a:rPr lang="en-US" sz="1400" dirty="0">
                <a:solidFill>
                  <a:schemeClr val="accent5"/>
                </a:solidFill>
              </a:rPr>
              <a:t>Distances bunch at about 16.5 km and delivery times stack at about 70 and 120 min, which hints at filled-in or capped values.</a:t>
            </a:r>
            <a:endParaRPr lang="en-US" sz="16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Delivery Rating vs Delivery Time</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Delayed orders take 5.5× longer than fast ones, yet ratings stay at about 3.0.</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03  DELIVERY PERFORMANCE</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accent1"/>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bg2"/>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5440680" cy="4023360"/>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22" name="Chart 1"/>
          <p:cNvGraphicFramePr/>
          <p:nvPr/>
        </p:nvGraphicFramePr>
        <p:xfrm>
          <a:off x="6199632" y="2194560"/>
          <a:ext cx="5440680" cy="4023360"/>
        </p:xfrm>
        <a:graphic>
          <a:graphicData uri="http://schemas.openxmlformats.org/drawingml/2006/chart">
            <c:chart xmlns:c="http://schemas.openxmlformats.org/drawingml/2006/chart" xmlns:r="http://schemas.openxmlformats.org/officeDocument/2006/relationships" r:id="rId9"/>
          </a:graphicData>
        </a:graphic>
      </p:graphicFrame>
      <p:sp>
        <p:nvSpPr>
          <p:cNvPr id="25"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Top-Rated Restaurants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The ten best restaurants are separated by just 0.04 rating points.</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04  RESTAURANTS &amp; CANCELLATIONS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accent1"/>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22376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4.33"/>
          <p:cNvSpPr/>
          <p:nvPr/>
        </p:nvSpPr>
        <p:spPr>
          <a:xfrm>
            <a:off x="8138160" y="2194560"/>
            <a:ext cx="3502152" cy="1417320"/>
          </a:xfrm>
          <a:prstGeom prst="roundRect">
            <a:avLst>
              <a:gd name="adj" fmla="val 7742"/>
            </a:avLst>
          </a:prstGeom>
          <a:solidFill>
            <a:schemeClr val="bg2"/>
          </a:solidFill>
          <a:ln/>
        </p:spPr>
      </p:sp>
      <p:sp>
        <p:nvSpPr>
          <p:cNvPr id="23" name="Stat value"/>
          <p:cNvSpPr txBox="1"/>
          <p:nvPr/>
        </p:nvSpPr>
        <p:spPr>
          <a:xfrm>
            <a:off x="8366760" y="2304288"/>
            <a:ext cx="3044952" cy="708660"/>
          </a:xfrm>
          <a:prstGeom prst="rect">
            <a:avLst/>
          </a:prstGeom>
          <a:noFill/>
          <a:ln/>
        </p:spPr>
        <p:txBody>
          <a:bodyPr wrap="square" lIns="0" tIns="0" rIns="0" bIns="0" rtlCol="0" anchor="b"/>
          <a:lstStyle/>
          <a:p>
            <a:pPr marL="0" indent="0">
              <a:buNone/>
            </a:pPr>
            <a:r>
              <a:rPr lang="en-US" sz="3200" b="1" dirty="0">
                <a:solidFill>
                  <a:schemeClr val="accent1"/>
                </a:solidFill>
              </a:rPr>
              <a:t>4.33</a:t>
            </a:r>
            <a:endParaRPr lang="en-US" sz="3200" dirty="0"/>
          </a:p>
        </p:txBody>
      </p:sp>
      <p:sp>
        <p:nvSpPr>
          <p:cNvPr id="24" name="Stat label"/>
          <p:cNvSpPr txBox="1"/>
          <p:nvPr/>
        </p:nvSpPr>
        <p:spPr>
          <a:xfrm>
            <a:off x="8366760" y="29599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Restaurant_101: highest average rating</a:t>
            </a:r>
            <a:endParaRPr lang="en-US" sz="1400" dirty="0"/>
          </a:p>
        </p:txBody>
      </p:sp>
      <p:sp>
        <p:nvSpPr>
          <p:cNvPr id="25" name="Stat card: 0.04"/>
          <p:cNvSpPr/>
          <p:nvPr/>
        </p:nvSpPr>
        <p:spPr>
          <a:xfrm>
            <a:off x="8138160" y="3794760"/>
            <a:ext cx="3502152" cy="1417320"/>
          </a:xfrm>
          <a:prstGeom prst="roundRect">
            <a:avLst>
              <a:gd name="adj" fmla="val 7742"/>
            </a:avLst>
          </a:prstGeom>
          <a:solidFill>
            <a:schemeClr val="bg2"/>
          </a:solidFill>
          <a:ln/>
        </p:spPr>
      </p:sp>
      <p:sp>
        <p:nvSpPr>
          <p:cNvPr id="26" name="Stat value"/>
          <p:cNvSpPr txBox="1"/>
          <p:nvPr/>
        </p:nvSpPr>
        <p:spPr>
          <a:xfrm>
            <a:off x="8366760" y="3904488"/>
            <a:ext cx="3044952" cy="708660"/>
          </a:xfrm>
          <a:prstGeom prst="rect">
            <a:avLst/>
          </a:prstGeom>
          <a:noFill/>
          <a:ln/>
        </p:spPr>
        <p:txBody>
          <a:bodyPr wrap="square" lIns="0" tIns="0" rIns="0" bIns="0" rtlCol="0" anchor="b"/>
          <a:lstStyle/>
          <a:p>
            <a:pPr marL="0" indent="0">
              <a:buNone/>
            </a:pPr>
            <a:r>
              <a:rPr lang="en-US" sz="3200" b="1" dirty="0">
                <a:solidFill>
                  <a:schemeClr val="accent4"/>
                </a:solidFill>
              </a:rPr>
              <a:t>0.04</a:t>
            </a:r>
            <a:endParaRPr lang="en-US" sz="3200" dirty="0"/>
          </a:p>
        </p:txBody>
      </p:sp>
      <p:sp>
        <p:nvSpPr>
          <p:cNvPr id="27" name="Stat label"/>
          <p:cNvSpPr txBox="1"/>
          <p:nvPr/>
        </p:nvSpPr>
        <p:spPr>
          <a:xfrm>
            <a:off x="8366760" y="4560113"/>
            <a:ext cx="3044952" cy="595274"/>
          </a:xfrm>
          <a:prstGeom prst="rect">
            <a:avLst/>
          </a:prstGeom>
          <a:noFill/>
          <a:ln/>
        </p:spPr>
        <p:txBody>
          <a:bodyPr wrap="square" lIns="0" tIns="0" rIns="0" bIns="0" rtlCol="0" anchor="t"/>
          <a:lstStyle/>
          <a:p>
            <a:pPr marL="0" indent="0">
              <a:buNone/>
            </a:pPr>
            <a:r>
              <a:rPr lang="en-US" sz="1400" dirty="0">
                <a:solidFill>
                  <a:schemeClr val="accent5"/>
                </a:solidFill>
              </a:rPr>
              <a:t>rating-point gap between #1 and #10</a:t>
            </a:r>
            <a:endParaRPr lang="en-US" sz="1400" dirty="0"/>
          </a:p>
        </p:txBody>
      </p:sp>
      <p:sp>
        <p:nvSpPr>
          <p:cNvPr id="28" name="Chart note"/>
          <p:cNvSpPr txBox="1"/>
          <p:nvPr/>
        </p:nvSpPr>
        <p:spPr>
          <a:xfrm>
            <a:off x="8138160" y="5394960"/>
            <a:ext cx="3502152" cy="731520"/>
          </a:xfrm>
          <a:prstGeom prst="rect">
            <a:avLst/>
          </a:prstGeom>
          <a:noFill/>
          <a:ln/>
        </p:spPr>
        <p:txBody>
          <a:bodyPr wrap="square" lIns="0" tIns="0" rIns="0" bIns="0" rtlCol="0" anchor="t"/>
          <a:lstStyle/>
          <a:p>
            <a:pPr marL="0" indent="0">
              <a:buNone/>
            </a:pPr>
            <a:r>
              <a:rPr lang="en-US" sz="1400" i="1" dirty="0">
                <a:solidFill>
                  <a:schemeClr val="accent5"/>
                </a:solidFill>
              </a:rPr>
              <a:t>All ten sit between 4.29 and 4.33 out of 5.</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Cancellation Rate by Restaurant</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The worst restaurants cancel about 1 in 5 orders, well above the overall rate.</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04  RESTAURANTS &amp; CANCELLATIONS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accent1"/>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758952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21.9%"/>
          <p:cNvSpPr/>
          <p:nvPr/>
        </p:nvSpPr>
        <p:spPr>
          <a:xfrm>
            <a:off x="8412480" y="2194560"/>
            <a:ext cx="3227832" cy="1188720"/>
          </a:xfrm>
          <a:prstGeom prst="roundRect">
            <a:avLst>
              <a:gd name="adj" fmla="val 9231"/>
            </a:avLst>
          </a:prstGeom>
          <a:solidFill>
            <a:schemeClr val="bg2"/>
          </a:solidFill>
          <a:ln/>
        </p:spPr>
      </p:sp>
      <p:sp>
        <p:nvSpPr>
          <p:cNvPr id="23" name="Stat value"/>
          <p:cNvSpPr txBox="1"/>
          <p:nvPr/>
        </p:nvSpPr>
        <p:spPr>
          <a:xfrm>
            <a:off x="8641080" y="2304288"/>
            <a:ext cx="2770632" cy="594360"/>
          </a:xfrm>
          <a:prstGeom prst="rect">
            <a:avLst/>
          </a:prstGeom>
          <a:noFill/>
          <a:ln/>
        </p:spPr>
        <p:txBody>
          <a:bodyPr wrap="square" lIns="0" tIns="0" rIns="0" bIns="0" rtlCol="0" anchor="b"/>
          <a:lstStyle/>
          <a:p>
            <a:pPr marL="0" indent="0">
              <a:buNone/>
            </a:pPr>
            <a:r>
              <a:rPr lang="en-US" sz="3200" b="1" dirty="0">
                <a:solidFill>
                  <a:schemeClr val="accent1"/>
                </a:solidFill>
              </a:rPr>
              <a:t>21.9%</a:t>
            </a:r>
            <a:endParaRPr lang="en-US" sz="3200" dirty="0"/>
          </a:p>
        </p:txBody>
      </p:sp>
      <p:sp>
        <p:nvSpPr>
          <p:cNvPr id="24" name="Stat label"/>
          <p:cNvSpPr txBox="1"/>
          <p:nvPr/>
        </p:nvSpPr>
        <p:spPr>
          <a:xfrm>
            <a:off x="8641080" y="28364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highest: Restaurant_391</a:t>
            </a:r>
            <a:endParaRPr lang="en-US" sz="1400" dirty="0"/>
          </a:p>
        </p:txBody>
      </p:sp>
      <p:sp>
        <p:nvSpPr>
          <p:cNvPr id="25" name="Stat card: 1 in 5"/>
          <p:cNvSpPr/>
          <p:nvPr/>
        </p:nvSpPr>
        <p:spPr>
          <a:xfrm>
            <a:off x="8412480" y="3566160"/>
            <a:ext cx="3227832" cy="1188720"/>
          </a:xfrm>
          <a:prstGeom prst="roundRect">
            <a:avLst>
              <a:gd name="adj" fmla="val 9231"/>
            </a:avLst>
          </a:prstGeom>
          <a:solidFill>
            <a:schemeClr val="bg2"/>
          </a:solidFill>
          <a:ln/>
        </p:spPr>
      </p:sp>
      <p:sp>
        <p:nvSpPr>
          <p:cNvPr id="26" name="Stat value"/>
          <p:cNvSpPr txBox="1"/>
          <p:nvPr/>
        </p:nvSpPr>
        <p:spPr>
          <a:xfrm>
            <a:off x="8641080" y="3675888"/>
            <a:ext cx="2770632" cy="594360"/>
          </a:xfrm>
          <a:prstGeom prst="rect">
            <a:avLst/>
          </a:prstGeom>
          <a:noFill/>
          <a:ln/>
        </p:spPr>
        <p:txBody>
          <a:bodyPr wrap="square" lIns="0" tIns="0" rIns="0" bIns="0" rtlCol="0" anchor="b"/>
          <a:lstStyle/>
          <a:p>
            <a:pPr marL="0" indent="0">
              <a:buNone/>
            </a:pPr>
            <a:r>
              <a:rPr lang="en-US" sz="3200" b="1" dirty="0">
                <a:solidFill>
                  <a:schemeClr val="accent4"/>
                </a:solidFill>
              </a:rPr>
              <a:t>1 in 5</a:t>
            </a:r>
            <a:endParaRPr lang="en-US" sz="3200" dirty="0"/>
          </a:p>
        </p:txBody>
      </p:sp>
      <p:sp>
        <p:nvSpPr>
          <p:cNvPr id="27" name="Stat label"/>
          <p:cNvSpPr txBox="1"/>
          <p:nvPr/>
        </p:nvSpPr>
        <p:spPr>
          <a:xfrm>
            <a:off x="8641080" y="42080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orders cancelled at these 10 restaurants</a:t>
            </a:r>
            <a:endParaRPr lang="en-US" sz="1400" dirty="0"/>
          </a:p>
        </p:txBody>
      </p:sp>
      <p:sp>
        <p:nvSpPr>
          <p:cNvPr id="28" name="Stat card: ≈15%"/>
          <p:cNvSpPr/>
          <p:nvPr/>
        </p:nvSpPr>
        <p:spPr>
          <a:xfrm>
            <a:off x="8412480" y="4937760"/>
            <a:ext cx="3227832" cy="1188720"/>
          </a:xfrm>
          <a:prstGeom prst="roundRect">
            <a:avLst>
              <a:gd name="adj" fmla="val 9231"/>
            </a:avLst>
          </a:prstGeom>
          <a:solidFill>
            <a:schemeClr val="bg2"/>
          </a:solidFill>
          <a:ln/>
        </p:spPr>
      </p:sp>
      <p:sp>
        <p:nvSpPr>
          <p:cNvPr id="29" name="Stat value"/>
          <p:cNvSpPr txBox="1"/>
          <p:nvPr/>
        </p:nvSpPr>
        <p:spPr>
          <a:xfrm>
            <a:off x="8641080" y="5047488"/>
            <a:ext cx="2770632" cy="594360"/>
          </a:xfrm>
          <a:prstGeom prst="rect">
            <a:avLst/>
          </a:prstGeom>
          <a:noFill/>
          <a:ln/>
        </p:spPr>
        <p:txBody>
          <a:bodyPr wrap="square" lIns="0" tIns="0" rIns="0" bIns="0" rtlCol="0" anchor="b"/>
          <a:lstStyle/>
          <a:p>
            <a:pPr marL="0" indent="0">
              <a:buNone/>
            </a:pPr>
            <a:r>
              <a:rPr lang="en-US" sz="3200" b="1" dirty="0">
                <a:solidFill>
                  <a:schemeClr val="accent4"/>
                </a:solidFill>
              </a:rPr>
              <a:t>≈15%</a:t>
            </a:r>
            <a:endParaRPr lang="en-US" sz="3200" dirty="0"/>
          </a:p>
        </p:txBody>
      </p:sp>
      <p:sp>
        <p:nvSpPr>
          <p:cNvPr id="30" name="Stat label"/>
          <p:cNvSpPr txBox="1"/>
          <p:nvPr/>
        </p:nvSpPr>
        <p:spPr>
          <a:xfrm>
            <a:off x="8641080" y="5579669"/>
            <a:ext cx="2770632" cy="499262"/>
          </a:xfrm>
          <a:prstGeom prst="rect">
            <a:avLst/>
          </a:prstGeom>
          <a:noFill/>
          <a:ln/>
        </p:spPr>
        <p:txBody>
          <a:bodyPr wrap="square" lIns="0" tIns="0" rIns="0" bIns="0" rtlCol="0" anchor="t"/>
          <a:lstStyle/>
          <a:p>
            <a:pPr marL="0" indent="0">
              <a:buNone/>
            </a:pPr>
            <a:r>
              <a:rPr lang="en-US" sz="1400" dirty="0">
                <a:solidFill>
                  <a:schemeClr val="accent5"/>
                </a:solidFill>
              </a:rPr>
              <a:t>overall cancellation rate (15,036 of 100,000)</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Cancellation Reason Analysis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40% of cancellations have no reason recorded, the biggest gap in the data.</a:t>
            </a:r>
            <a:endParaRPr lang="en-US" sz="1800" dirty="0"/>
          </a:p>
        </p:txBody>
      </p:sp>
      <p:sp>
        <p:nvSpPr>
          <p:cNvPr id="4" name="Section kicker"/>
          <p:cNvSpPr txBox="1"/>
          <p:nvPr/>
        </p:nvSpPr>
        <p:spPr>
          <a:xfrm>
            <a:off x="548640" y="274320"/>
            <a:ext cx="4754880" cy="329184"/>
          </a:xfrm>
          <a:prstGeom prst="rect">
            <a:avLst/>
          </a:prstGeom>
          <a:noFill/>
          <a:ln/>
        </p:spPr>
        <p:txBody>
          <a:bodyPr wrap="square" lIns="0" tIns="0" rIns="0" bIns="0" rtlCol="0" anchor="ctr"/>
          <a:lstStyle/>
          <a:p>
            <a:pPr marL="0" indent="0">
              <a:buNone/>
            </a:pPr>
            <a:r>
              <a:rPr lang="en-US" sz="1200" b="1" kern="0" spc="100" dirty="0">
                <a:solidFill>
                  <a:schemeClr val="accent1"/>
                </a:solidFill>
              </a:rPr>
              <a:t>04  RESTAURANTS &amp; CANCELLATIONS</a:t>
            </a:r>
            <a:endParaRPr lang="en-US" sz="1200" dirty="0"/>
          </a:p>
        </p:txBody>
      </p:sp>
      <p:sp>
        <p:nvSpPr>
          <p:cNvPr id="5" name="Nav pill: Agenda"/>
          <p:cNvSpPr/>
          <p:nvPr/>
        </p:nvSpPr>
        <p:spPr>
          <a:xfrm>
            <a:off x="5330952" y="274320"/>
            <a:ext cx="1188720" cy="329184"/>
          </a:xfrm>
          <a:prstGeom prst="roundRect">
            <a:avLst>
              <a:gd name="adj" fmla="val 50000"/>
            </a:avLst>
          </a:prstGeom>
          <a:solidFill>
            <a:schemeClr val="tx2"/>
          </a:solidFill>
          <a:ln/>
        </p:spPr>
      </p:sp>
      <p:sp>
        <p:nvSpPr>
          <p:cNvPr id="6" name="Nav label: Agenda"/>
          <p:cNvSpPr txBox="1"/>
          <p:nvPr/>
        </p:nvSpPr>
        <p:spPr>
          <a:xfrm>
            <a:off x="533095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Agenda</a:t>
            </a:r>
            <a:endParaRPr lang="en-US" sz="1100" dirty="0"/>
          </a:p>
        </p:txBody>
      </p:sp>
      <p:sp>
        <p:nvSpPr>
          <p:cNvPr id="7" name="Link: Back to agenda">
            <a:hlinkClick r:id="rId3" action="ppaction://hlinksldjump" tooltip="Back to agenda"/>
          </p:cNvPr>
          <p:cNvSpPr/>
          <p:nvPr/>
        </p:nvSpPr>
        <p:spPr>
          <a:xfrm>
            <a:off x="5330952" y="274320"/>
            <a:ext cx="1188720" cy="329184"/>
          </a:xfrm>
          <a:prstGeom prst="rect">
            <a:avLst/>
          </a:prstGeom>
          <a:solidFill>
            <a:srgbClr val="FFFFFF">
              <a:alpha val="0"/>
            </a:srgbClr>
          </a:solidFill>
          <a:ln/>
        </p:spPr>
      </p:sp>
      <p:sp>
        <p:nvSpPr>
          <p:cNvPr id="8" name="Nav pill: Customers"/>
          <p:cNvSpPr/>
          <p:nvPr/>
        </p:nvSpPr>
        <p:spPr>
          <a:xfrm>
            <a:off x="6611112" y="274320"/>
            <a:ext cx="1188720" cy="329184"/>
          </a:xfrm>
          <a:prstGeom prst="roundRect">
            <a:avLst>
              <a:gd name="adj" fmla="val 50000"/>
            </a:avLst>
          </a:prstGeom>
          <a:solidFill>
            <a:schemeClr val="bg2"/>
          </a:solidFill>
          <a:ln/>
        </p:spPr>
      </p:sp>
      <p:sp>
        <p:nvSpPr>
          <p:cNvPr id="9" name="Nav label: Customers"/>
          <p:cNvSpPr txBox="1"/>
          <p:nvPr/>
        </p:nvSpPr>
        <p:spPr>
          <a:xfrm>
            <a:off x="661111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Customers</a:t>
            </a:r>
            <a:endParaRPr lang="en-US" sz="1100" dirty="0"/>
          </a:p>
        </p:txBody>
      </p:sp>
      <p:sp>
        <p:nvSpPr>
          <p:cNvPr id="10" name="Link: Jump to Customers">
            <a:hlinkClick r:id="rId4" action="ppaction://hlinksldjump" tooltip="Jump to Customers"/>
          </p:cNvPr>
          <p:cNvSpPr/>
          <p:nvPr/>
        </p:nvSpPr>
        <p:spPr>
          <a:xfrm>
            <a:off x="6611112" y="274320"/>
            <a:ext cx="1188720" cy="329184"/>
          </a:xfrm>
          <a:prstGeom prst="rect">
            <a:avLst/>
          </a:prstGeom>
          <a:solidFill>
            <a:srgbClr val="FFFFFF">
              <a:alpha val="0"/>
            </a:srgbClr>
          </a:solidFill>
          <a:ln/>
        </p:spPr>
      </p:sp>
      <p:sp>
        <p:nvSpPr>
          <p:cNvPr id="11" name="Nav pill: Revenue"/>
          <p:cNvSpPr/>
          <p:nvPr/>
        </p:nvSpPr>
        <p:spPr>
          <a:xfrm>
            <a:off x="7891272" y="274320"/>
            <a:ext cx="1188720" cy="329184"/>
          </a:xfrm>
          <a:prstGeom prst="roundRect">
            <a:avLst>
              <a:gd name="adj" fmla="val 50000"/>
            </a:avLst>
          </a:prstGeom>
          <a:solidFill>
            <a:schemeClr val="bg2"/>
          </a:solidFill>
          <a:ln/>
        </p:spPr>
      </p:sp>
      <p:sp>
        <p:nvSpPr>
          <p:cNvPr id="12" name="Nav label: Revenue"/>
          <p:cNvSpPr txBox="1"/>
          <p:nvPr/>
        </p:nvSpPr>
        <p:spPr>
          <a:xfrm>
            <a:off x="789127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Revenue</a:t>
            </a:r>
            <a:endParaRPr lang="en-US" sz="1100" dirty="0"/>
          </a:p>
        </p:txBody>
      </p:sp>
      <p:sp>
        <p:nvSpPr>
          <p:cNvPr id="13" name="Link: Jump to Revenue">
            <a:hlinkClick r:id="rId5" action="ppaction://hlinksldjump" tooltip="Jump to Revenue"/>
          </p:cNvPr>
          <p:cNvSpPr/>
          <p:nvPr/>
        </p:nvSpPr>
        <p:spPr>
          <a:xfrm>
            <a:off x="7891272" y="274320"/>
            <a:ext cx="1188720" cy="329184"/>
          </a:xfrm>
          <a:prstGeom prst="rect">
            <a:avLst/>
          </a:prstGeom>
          <a:solidFill>
            <a:srgbClr val="FFFFFF">
              <a:alpha val="0"/>
            </a:srgbClr>
          </a:solidFill>
          <a:ln/>
        </p:spPr>
      </p:sp>
      <p:sp>
        <p:nvSpPr>
          <p:cNvPr id="14" name="Nav pill: Delivery"/>
          <p:cNvSpPr/>
          <p:nvPr/>
        </p:nvSpPr>
        <p:spPr>
          <a:xfrm>
            <a:off x="9171432" y="274320"/>
            <a:ext cx="1188720" cy="329184"/>
          </a:xfrm>
          <a:prstGeom prst="roundRect">
            <a:avLst>
              <a:gd name="adj" fmla="val 50000"/>
            </a:avLst>
          </a:prstGeom>
          <a:solidFill>
            <a:schemeClr val="bg2"/>
          </a:solidFill>
          <a:ln/>
        </p:spPr>
      </p:sp>
      <p:sp>
        <p:nvSpPr>
          <p:cNvPr id="15" name="Nav label: Delivery"/>
          <p:cNvSpPr txBox="1"/>
          <p:nvPr/>
        </p:nvSpPr>
        <p:spPr>
          <a:xfrm>
            <a:off x="9171432" y="274320"/>
            <a:ext cx="1188720" cy="329184"/>
          </a:xfrm>
          <a:prstGeom prst="rect">
            <a:avLst/>
          </a:prstGeom>
          <a:noFill/>
          <a:ln/>
        </p:spPr>
        <p:txBody>
          <a:bodyPr wrap="square" lIns="0" tIns="0" rIns="0" bIns="0" rtlCol="0" anchor="ctr"/>
          <a:lstStyle/>
          <a:p>
            <a:pPr marL="0" indent="0" algn="ctr">
              <a:buNone/>
            </a:pPr>
            <a:r>
              <a:rPr lang="en-US" sz="1100" b="1" dirty="0">
                <a:solidFill>
                  <a:schemeClr val="accent5"/>
                </a:solidFill>
              </a:rPr>
              <a:t>Delivery</a:t>
            </a:r>
            <a:endParaRPr lang="en-US" sz="1100" dirty="0"/>
          </a:p>
        </p:txBody>
      </p:sp>
      <p:sp>
        <p:nvSpPr>
          <p:cNvPr id="16" name="Link: Jump to Delivery">
            <a:hlinkClick r:id="rId6" action="ppaction://hlinksldjump" tooltip="Jump to Delivery"/>
          </p:cNvPr>
          <p:cNvSpPr/>
          <p:nvPr/>
        </p:nvSpPr>
        <p:spPr>
          <a:xfrm>
            <a:off x="9171432" y="274320"/>
            <a:ext cx="1188720" cy="329184"/>
          </a:xfrm>
          <a:prstGeom prst="rect">
            <a:avLst/>
          </a:prstGeom>
          <a:solidFill>
            <a:srgbClr val="FFFFFF">
              <a:alpha val="0"/>
            </a:srgbClr>
          </a:solidFill>
          <a:ln/>
        </p:spPr>
      </p:sp>
      <p:sp>
        <p:nvSpPr>
          <p:cNvPr id="17" name="Nav pill: Restaurants"/>
          <p:cNvSpPr/>
          <p:nvPr/>
        </p:nvSpPr>
        <p:spPr>
          <a:xfrm>
            <a:off x="10451592" y="274320"/>
            <a:ext cx="1188720" cy="329184"/>
          </a:xfrm>
          <a:prstGeom prst="roundRect">
            <a:avLst>
              <a:gd name="adj" fmla="val 50000"/>
            </a:avLst>
          </a:prstGeom>
          <a:solidFill>
            <a:schemeClr val="accent1"/>
          </a:solidFill>
          <a:ln/>
        </p:spPr>
      </p:sp>
      <p:sp>
        <p:nvSpPr>
          <p:cNvPr id="18" name="Nav label: Restaurants"/>
          <p:cNvSpPr txBox="1"/>
          <p:nvPr/>
        </p:nvSpPr>
        <p:spPr>
          <a:xfrm>
            <a:off x="10451592" y="274320"/>
            <a:ext cx="1188720" cy="329184"/>
          </a:xfrm>
          <a:prstGeom prst="rect">
            <a:avLst/>
          </a:prstGeom>
          <a:noFill/>
          <a:ln/>
        </p:spPr>
        <p:txBody>
          <a:bodyPr wrap="square" lIns="0" tIns="0" rIns="0" bIns="0" rtlCol="0" anchor="ctr"/>
          <a:lstStyle/>
          <a:p>
            <a:pPr marL="0" indent="0" algn="ctr">
              <a:buNone/>
            </a:pPr>
            <a:r>
              <a:rPr lang="en-US" sz="1100" b="1" dirty="0">
                <a:solidFill>
                  <a:schemeClr val="bg1"/>
                </a:solidFill>
              </a:rPr>
              <a:t>Restaurants</a:t>
            </a:r>
            <a:endParaRPr lang="en-US" sz="1100" dirty="0"/>
          </a:p>
        </p:txBody>
      </p:sp>
      <p:sp>
        <p:nvSpPr>
          <p:cNvPr id="19" name="Link: Jump to Restaurants">
            <a:hlinkClick r:id="rId7" action="ppaction://hlinksldjump" tooltip="Jump to Restaurants"/>
          </p:cNvPr>
          <p:cNvSpPr/>
          <p:nvPr/>
        </p:nvSpPr>
        <p:spPr>
          <a:xfrm>
            <a:off x="10451592" y="274320"/>
            <a:ext cx="1188720" cy="329184"/>
          </a:xfrm>
          <a:prstGeom prst="rect">
            <a:avLst/>
          </a:prstGeom>
          <a:solidFill>
            <a:srgbClr val="FFFFFF">
              <a:alpha val="0"/>
            </a:srgbClr>
          </a:solidFill>
          <a:ln/>
        </p:spPr>
      </p:sp>
      <p:graphicFrame>
        <p:nvGraphicFramePr>
          <p:cNvPr id="21" name="Chart 0"/>
          <p:cNvGraphicFramePr/>
          <p:nvPr/>
        </p:nvGraphicFramePr>
        <p:xfrm>
          <a:off x="548640" y="2194560"/>
          <a:ext cx="5486400" cy="4023360"/>
        </p:xfrm>
        <a:graphic>
          <a:graphicData uri="http://schemas.openxmlformats.org/drawingml/2006/chart">
            <c:chart xmlns:c="http://schemas.openxmlformats.org/drawingml/2006/chart" xmlns:r="http://schemas.openxmlformats.org/officeDocument/2006/relationships" r:id="rId8"/>
          </a:graphicData>
        </a:graphic>
      </p:graphicFrame>
      <p:sp>
        <p:nvSpPr>
          <p:cNvPr id="22" name="Stat card: 15,036"/>
          <p:cNvSpPr/>
          <p:nvPr/>
        </p:nvSpPr>
        <p:spPr>
          <a:xfrm>
            <a:off x="6336792" y="2194560"/>
            <a:ext cx="5303520" cy="1188720"/>
          </a:xfrm>
          <a:prstGeom prst="roundRect">
            <a:avLst>
              <a:gd name="adj" fmla="val 9231"/>
            </a:avLst>
          </a:prstGeom>
          <a:solidFill>
            <a:schemeClr val="bg2"/>
          </a:solidFill>
          <a:ln/>
        </p:spPr>
      </p:sp>
      <p:sp>
        <p:nvSpPr>
          <p:cNvPr id="23" name="Stat value"/>
          <p:cNvSpPr txBox="1"/>
          <p:nvPr/>
        </p:nvSpPr>
        <p:spPr>
          <a:xfrm>
            <a:off x="6565392" y="2304288"/>
            <a:ext cx="4846320" cy="594360"/>
          </a:xfrm>
          <a:prstGeom prst="rect">
            <a:avLst/>
          </a:prstGeom>
          <a:noFill/>
          <a:ln/>
        </p:spPr>
        <p:txBody>
          <a:bodyPr wrap="square" lIns="0" tIns="0" rIns="0" bIns="0" rtlCol="0" anchor="b"/>
          <a:lstStyle/>
          <a:p>
            <a:pPr marL="0" indent="0">
              <a:buNone/>
            </a:pPr>
            <a:r>
              <a:rPr lang="en-US" sz="3200" b="1" dirty="0">
                <a:solidFill>
                  <a:schemeClr val="accent1"/>
                </a:solidFill>
              </a:rPr>
              <a:t>15,036</a:t>
            </a:r>
            <a:endParaRPr lang="en-US" sz="3200" dirty="0"/>
          </a:p>
        </p:txBody>
      </p:sp>
      <p:sp>
        <p:nvSpPr>
          <p:cNvPr id="24" name="Stat label"/>
          <p:cNvSpPr txBox="1"/>
          <p:nvPr/>
        </p:nvSpPr>
        <p:spPr>
          <a:xfrm>
            <a:off x="6565392" y="2836469"/>
            <a:ext cx="4846320" cy="499262"/>
          </a:xfrm>
          <a:prstGeom prst="rect">
            <a:avLst/>
          </a:prstGeom>
          <a:noFill/>
          <a:ln/>
        </p:spPr>
        <p:txBody>
          <a:bodyPr wrap="square" lIns="0" tIns="0" rIns="0" bIns="0" rtlCol="0" anchor="t"/>
          <a:lstStyle/>
          <a:p>
            <a:pPr marL="0" indent="0">
              <a:buNone/>
            </a:pPr>
            <a:r>
              <a:rPr lang="en-US" sz="1400" dirty="0">
                <a:solidFill>
                  <a:schemeClr val="accent5"/>
                </a:solidFill>
              </a:rPr>
              <a:t>cancelled orders, about 15% of 100,000</a:t>
            </a:r>
            <a:endParaRPr lang="en-US" sz="1400" dirty="0"/>
          </a:p>
        </p:txBody>
      </p:sp>
      <p:sp>
        <p:nvSpPr>
          <p:cNvPr id="25" name="Stat card: 40%"/>
          <p:cNvSpPr/>
          <p:nvPr/>
        </p:nvSpPr>
        <p:spPr>
          <a:xfrm>
            <a:off x="6336792" y="3566160"/>
            <a:ext cx="5303520" cy="1188720"/>
          </a:xfrm>
          <a:prstGeom prst="roundRect">
            <a:avLst>
              <a:gd name="adj" fmla="val 9231"/>
            </a:avLst>
          </a:prstGeom>
          <a:solidFill>
            <a:schemeClr val="bg2"/>
          </a:solidFill>
          <a:ln/>
        </p:spPr>
      </p:sp>
      <p:sp>
        <p:nvSpPr>
          <p:cNvPr id="26" name="Stat value"/>
          <p:cNvSpPr txBox="1"/>
          <p:nvPr/>
        </p:nvSpPr>
        <p:spPr>
          <a:xfrm>
            <a:off x="6565392" y="3675888"/>
            <a:ext cx="4846320" cy="594360"/>
          </a:xfrm>
          <a:prstGeom prst="rect">
            <a:avLst/>
          </a:prstGeom>
          <a:noFill/>
          <a:ln/>
        </p:spPr>
        <p:txBody>
          <a:bodyPr wrap="square" lIns="0" tIns="0" rIns="0" bIns="0" rtlCol="0" anchor="b"/>
          <a:lstStyle/>
          <a:p>
            <a:pPr marL="0" indent="0">
              <a:buNone/>
            </a:pPr>
            <a:r>
              <a:rPr lang="en-US" sz="3200" b="1" dirty="0">
                <a:solidFill>
                  <a:schemeClr val="accent4"/>
                </a:solidFill>
              </a:rPr>
              <a:t>40%</a:t>
            </a:r>
            <a:endParaRPr lang="en-US" sz="3200" dirty="0"/>
          </a:p>
        </p:txBody>
      </p:sp>
      <p:sp>
        <p:nvSpPr>
          <p:cNvPr id="27" name="Stat label"/>
          <p:cNvSpPr txBox="1"/>
          <p:nvPr/>
        </p:nvSpPr>
        <p:spPr>
          <a:xfrm>
            <a:off x="6565392" y="4208069"/>
            <a:ext cx="4846320" cy="499262"/>
          </a:xfrm>
          <a:prstGeom prst="rect">
            <a:avLst/>
          </a:prstGeom>
          <a:noFill/>
          <a:ln/>
        </p:spPr>
        <p:txBody>
          <a:bodyPr wrap="square" lIns="0" tIns="0" rIns="0" bIns="0" rtlCol="0" anchor="t"/>
          <a:lstStyle/>
          <a:p>
            <a:pPr marL="0" indent="0">
              <a:buNone/>
            </a:pPr>
            <a:r>
              <a:rPr lang="en-US" sz="1400" dirty="0">
                <a:solidFill>
                  <a:schemeClr val="accent5"/>
                </a:solidFill>
              </a:rPr>
              <a:t>have no reason recorded (6,005 orders)</a:t>
            </a:r>
            <a:endParaRPr lang="en-US" sz="1400" dirty="0"/>
          </a:p>
        </p:txBody>
      </p:sp>
      <p:sp>
        <p:nvSpPr>
          <p:cNvPr id="28" name="Stat card: ≈20% each"/>
          <p:cNvSpPr/>
          <p:nvPr/>
        </p:nvSpPr>
        <p:spPr>
          <a:xfrm>
            <a:off x="6336792" y="4937760"/>
            <a:ext cx="5303520" cy="1188720"/>
          </a:xfrm>
          <a:prstGeom prst="roundRect">
            <a:avLst>
              <a:gd name="adj" fmla="val 9231"/>
            </a:avLst>
          </a:prstGeom>
          <a:solidFill>
            <a:schemeClr val="bg2"/>
          </a:solidFill>
          <a:ln/>
        </p:spPr>
      </p:sp>
      <p:sp>
        <p:nvSpPr>
          <p:cNvPr id="29" name="Stat value"/>
          <p:cNvSpPr txBox="1"/>
          <p:nvPr/>
        </p:nvSpPr>
        <p:spPr>
          <a:xfrm>
            <a:off x="6565392" y="5047488"/>
            <a:ext cx="4846320" cy="594360"/>
          </a:xfrm>
          <a:prstGeom prst="rect">
            <a:avLst/>
          </a:prstGeom>
          <a:noFill/>
          <a:ln/>
        </p:spPr>
        <p:txBody>
          <a:bodyPr wrap="square" lIns="0" tIns="0" rIns="0" bIns="0" rtlCol="0" anchor="b"/>
          <a:lstStyle/>
          <a:p>
            <a:pPr marL="0" indent="0">
              <a:buNone/>
            </a:pPr>
            <a:r>
              <a:rPr lang="en-US" sz="3200" b="1" dirty="0">
                <a:solidFill>
                  <a:schemeClr val="accent4"/>
                </a:solidFill>
              </a:rPr>
              <a:t>≈20% each</a:t>
            </a:r>
            <a:endParaRPr lang="en-US" sz="3200" dirty="0"/>
          </a:p>
        </p:txBody>
      </p:sp>
      <p:sp>
        <p:nvSpPr>
          <p:cNvPr id="30" name="Stat label"/>
          <p:cNvSpPr txBox="1"/>
          <p:nvPr/>
        </p:nvSpPr>
        <p:spPr>
          <a:xfrm>
            <a:off x="6565392" y="5579669"/>
            <a:ext cx="4846320" cy="499262"/>
          </a:xfrm>
          <a:prstGeom prst="rect">
            <a:avLst/>
          </a:prstGeom>
          <a:noFill/>
          <a:ln/>
        </p:spPr>
        <p:txBody>
          <a:bodyPr wrap="square" lIns="0" tIns="0" rIns="0" bIns="0" rtlCol="0" anchor="t"/>
          <a:lstStyle/>
          <a:p>
            <a:pPr marL="0" indent="0">
              <a:buNone/>
            </a:pPr>
            <a:r>
              <a:rPr lang="en-US" sz="1400" dirty="0">
                <a:solidFill>
                  <a:schemeClr val="accent5"/>
                </a:solidFill>
              </a:rPr>
              <a:t>late delivery, customer cancelled, restaurant issue</a:t>
            </a:r>
            <a:endParaRPr lang="en-US" sz="1400" dirty="0"/>
          </a:p>
        </p:txBody>
      </p:sp>
      <p:sp>
        <p:nvSpPr>
          <p:cNvPr id="20"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731520"/>
            <a:ext cx="11091672" cy="731520"/>
          </a:xfrm>
          <a:prstGeom prst="rect">
            <a:avLst/>
          </a:prstGeom>
          <a:noFill/>
          <a:ln/>
        </p:spPr>
        <p:txBody>
          <a:bodyPr wrap="square" lIns="0" tIns="0" rIns="0" bIns="0" rtlCol="0" anchor="ctr"/>
          <a:lstStyle/>
          <a:p>
            <a:pPr marL="0" indent="0" algn="l">
              <a:buNone/>
            </a:pPr>
            <a:r>
              <a:rPr lang="en-US" sz="3600" b="1" dirty="0">
                <a:solidFill>
                  <a:schemeClr val="tx1"/>
                </a:solidFill>
              </a:rPr>
              <a:t>Key Takeaways and Next Steps</a:t>
            </a:r>
            <a:endParaRPr lang="en-US" sz="3600" dirty="0"/>
          </a:p>
        </p:txBody>
      </p:sp>
      <p:sp>
        <p:nvSpPr>
          <p:cNvPr id="3" name="Text 1"/>
          <p:cNvSpPr>
            <a:spLocks noGrp="1"/>
          </p:cNvSpPr>
          <p:nvPr>
            <p:ph type="body" idx="102" hasCustomPrompt="1"/>
          </p:nvPr>
        </p:nvSpPr>
        <p:spPr>
          <a:xfrm>
            <a:off x="548640" y="1481328"/>
            <a:ext cx="11091672" cy="566928"/>
          </a:xfrm>
          <a:prstGeom prst="rect">
            <a:avLst/>
          </a:prstGeom>
          <a:noFill/>
          <a:ln/>
        </p:spPr>
        <p:txBody>
          <a:bodyPr wrap="square" lIns="0" tIns="0" rIns="0" bIns="0" rtlCol="0" anchor="t"/>
          <a:lstStyle/>
          <a:p>
            <a:pPr marL="0" indent="0">
              <a:buNone/>
            </a:pPr>
            <a:r>
              <a:rPr lang="en-US" sz="1800" dirty="0">
                <a:solidFill>
                  <a:schemeClr val="accent5"/>
                </a:solidFill>
              </a:rPr>
              <a:t>Demand and revenue are steady; delivery speed and cancellation data are where to focus.</a:t>
            </a:r>
            <a:endParaRPr lang="en-US" sz="1800" dirty="0"/>
          </a:p>
        </p:txBody>
      </p:sp>
      <p:sp>
        <p:nvSpPr>
          <p:cNvPr id="4" name="Finding icon 1 circle"/>
          <p:cNvSpPr/>
          <p:nvPr/>
        </p:nvSpPr>
        <p:spPr>
          <a:xfrm>
            <a:off x="548640" y="2249424"/>
            <a:ext cx="566928" cy="566928"/>
          </a:xfrm>
          <a:prstGeom prst="ellipse">
            <a:avLst/>
          </a:prstGeom>
          <a:solidFill>
            <a:schemeClr val="accent4"/>
          </a:solidFill>
          <a:ln/>
        </p:spPr>
      </p:sp>
      <p:pic>
        <p:nvPicPr>
          <p:cNvPr id="5" name="Finding icon 1" descr="Finding icon 1"/>
          <p:cNvPicPr>
            <a:picLocks noChangeAspect="1"/>
          </p:cNvPicPr>
          <p:nvPr/>
        </p:nvPicPr>
        <p:blipFill>
          <a:blip r:embed="rId3"/>
          <a:stretch>
            <a:fillRect/>
          </a:stretch>
        </p:blipFill>
        <p:spPr>
          <a:xfrm>
            <a:off x="690372" y="2391156"/>
            <a:ext cx="283464" cy="283464"/>
          </a:xfrm>
          <a:prstGeom prst="rect">
            <a:avLst/>
          </a:prstGeom>
        </p:spPr>
      </p:pic>
      <p:sp>
        <p:nvSpPr>
          <p:cNvPr id="6" name="Finding 1"/>
          <p:cNvSpPr txBox="1"/>
          <p:nvPr/>
        </p:nvSpPr>
        <p:spPr>
          <a:xfrm>
            <a:off x="1325880" y="2194560"/>
            <a:ext cx="6035040" cy="685800"/>
          </a:xfrm>
          <a:prstGeom prst="rect">
            <a:avLst/>
          </a:prstGeom>
          <a:noFill/>
          <a:ln/>
        </p:spPr>
        <p:txBody>
          <a:bodyPr wrap="square" lIns="0" tIns="0" rIns="0" bIns="0" rtlCol="0" anchor="ctr"/>
          <a:lstStyle/>
          <a:p>
            <a:pPr marL="0" indent="0">
              <a:buNone/>
            </a:pPr>
            <a:r>
              <a:rPr lang="en-US" sz="1600" b="1" dirty="0">
                <a:solidFill>
                  <a:schemeClr val="tx1"/>
                </a:solidFill>
              </a:rPr>
              <a:t>Demand is even</a:t>
            </a:r>
            <a:endParaRPr lang="en-US" sz="1600" dirty="0"/>
          </a:p>
          <a:p>
            <a:pPr marL="0" indent="0">
              <a:buNone/>
            </a:pPr>
            <a:r>
              <a:rPr lang="en-US" sz="1400" dirty="0">
                <a:solidFill>
                  <a:schemeClr val="accent5"/>
                </a:solidFill>
              </a:rPr>
              <a:t>Orders per day match on weekdays and weekends; peak and off-peak are level.</a:t>
            </a:r>
            <a:endParaRPr lang="en-US" sz="1600" dirty="0"/>
          </a:p>
        </p:txBody>
      </p:sp>
      <p:sp>
        <p:nvSpPr>
          <p:cNvPr id="7" name="Finding icon 2 circle"/>
          <p:cNvSpPr/>
          <p:nvPr/>
        </p:nvSpPr>
        <p:spPr>
          <a:xfrm>
            <a:off x="548640" y="3054096"/>
            <a:ext cx="566928" cy="566928"/>
          </a:xfrm>
          <a:prstGeom prst="ellipse">
            <a:avLst/>
          </a:prstGeom>
          <a:solidFill>
            <a:schemeClr val="accent1"/>
          </a:solidFill>
          <a:ln/>
        </p:spPr>
      </p:sp>
      <p:pic>
        <p:nvPicPr>
          <p:cNvPr id="8" name="Finding icon 2" descr="Finding icon 2"/>
          <p:cNvPicPr>
            <a:picLocks noChangeAspect="1"/>
          </p:cNvPicPr>
          <p:nvPr/>
        </p:nvPicPr>
        <p:blipFill>
          <a:blip r:embed="rId4"/>
          <a:stretch>
            <a:fillRect/>
          </a:stretch>
        </p:blipFill>
        <p:spPr>
          <a:xfrm>
            <a:off x="690372" y="3195828"/>
            <a:ext cx="283464" cy="283464"/>
          </a:xfrm>
          <a:prstGeom prst="rect">
            <a:avLst/>
          </a:prstGeom>
        </p:spPr>
      </p:pic>
      <p:sp>
        <p:nvSpPr>
          <p:cNvPr id="9" name="Finding 2"/>
          <p:cNvSpPr txBox="1"/>
          <p:nvPr/>
        </p:nvSpPr>
        <p:spPr>
          <a:xfrm>
            <a:off x="1325880" y="2999232"/>
            <a:ext cx="6035040" cy="685800"/>
          </a:xfrm>
          <a:prstGeom prst="rect">
            <a:avLst/>
          </a:prstGeom>
          <a:noFill/>
          <a:ln/>
        </p:spPr>
        <p:txBody>
          <a:bodyPr wrap="square" lIns="0" tIns="0" rIns="0" bIns="0" rtlCol="0" anchor="ctr"/>
          <a:lstStyle/>
          <a:p>
            <a:pPr marL="0" indent="0">
              <a:buNone/>
            </a:pPr>
            <a:r>
              <a:rPr lang="en-US" sz="1600" b="1" dirty="0">
                <a:solidFill>
                  <a:schemeClr val="tx1"/>
                </a:solidFill>
              </a:rPr>
              <a:t>Revenue is steady</a:t>
            </a:r>
            <a:endParaRPr lang="en-US" sz="1600" dirty="0"/>
          </a:p>
          <a:p>
            <a:pPr marL="0" indent="0">
              <a:buNone/>
            </a:pPr>
            <a:r>
              <a:rPr lang="en-US" sz="1400" dirty="0">
                <a:solidFill>
                  <a:schemeClr val="accent5"/>
                </a:solidFill>
              </a:rPr>
              <a:t>About 14M a month with July up 17%; cities and cuisines within about 2%.</a:t>
            </a:r>
            <a:endParaRPr lang="en-US" sz="1600" dirty="0"/>
          </a:p>
        </p:txBody>
      </p:sp>
      <p:sp>
        <p:nvSpPr>
          <p:cNvPr id="10" name="Finding icon 3 circle"/>
          <p:cNvSpPr/>
          <p:nvPr/>
        </p:nvSpPr>
        <p:spPr>
          <a:xfrm>
            <a:off x="548640" y="3858768"/>
            <a:ext cx="566928" cy="566928"/>
          </a:xfrm>
          <a:prstGeom prst="ellipse">
            <a:avLst/>
          </a:prstGeom>
          <a:solidFill>
            <a:schemeClr val="accent2"/>
          </a:solidFill>
          <a:ln/>
        </p:spPr>
      </p:sp>
      <p:pic>
        <p:nvPicPr>
          <p:cNvPr id="11" name="Finding icon 3" descr="Finding icon 3"/>
          <p:cNvPicPr>
            <a:picLocks noChangeAspect="1"/>
          </p:cNvPicPr>
          <p:nvPr/>
        </p:nvPicPr>
        <p:blipFill>
          <a:blip r:embed="rId5"/>
          <a:stretch>
            <a:fillRect/>
          </a:stretch>
        </p:blipFill>
        <p:spPr>
          <a:xfrm>
            <a:off x="690372" y="4000500"/>
            <a:ext cx="283464" cy="283464"/>
          </a:xfrm>
          <a:prstGeom prst="rect">
            <a:avLst/>
          </a:prstGeom>
        </p:spPr>
      </p:pic>
      <p:sp>
        <p:nvSpPr>
          <p:cNvPr id="12" name="Finding 3"/>
          <p:cNvSpPr txBox="1"/>
          <p:nvPr/>
        </p:nvSpPr>
        <p:spPr>
          <a:xfrm>
            <a:off x="1325880" y="3803904"/>
            <a:ext cx="6035040" cy="685800"/>
          </a:xfrm>
          <a:prstGeom prst="rect">
            <a:avLst/>
          </a:prstGeom>
          <a:noFill/>
          <a:ln/>
        </p:spPr>
        <p:txBody>
          <a:bodyPr wrap="square" lIns="0" tIns="0" rIns="0" bIns="0" rtlCol="0" anchor="ctr"/>
          <a:lstStyle/>
          <a:p>
            <a:pPr marL="0" indent="0">
              <a:buNone/>
            </a:pPr>
            <a:r>
              <a:rPr lang="en-US" sz="1600" b="1" dirty="0">
                <a:solidFill>
                  <a:schemeClr val="tx1"/>
                </a:solidFill>
              </a:rPr>
              <a:t>Discounts don't move profit</a:t>
            </a:r>
            <a:endParaRPr lang="en-US" sz="1600" dirty="0"/>
          </a:p>
          <a:p>
            <a:pPr marL="0" indent="0">
              <a:buNone/>
            </a:pPr>
            <a:r>
              <a:rPr lang="en-US" sz="1400" dirty="0">
                <a:solidFill>
                  <a:schemeClr val="accent5"/>
                </a:solidFill>
              </a:rPr>
              <a:t>Average profit stays between 14.1% and 15.4% in every bucket.</a:t>
            </a:r>
            <a:endParaRPr lang="en-US" sz="1600" dirty="0"/>
          </a:p>
        </p:txBody>
      </p:sp>
      <p:sp>
        <p:nvSpPr>
          <p:cNvPr id="13" name="Finding icon 4 circle"/>
          <p:cNvSpPr/>
          <p:nvPr/>
        </p:nvSpPr>
        <p:spPr>
          <a:xfrm>
            <a:off x="548640" y="4663440"/>
            <a:ext cx="566928" cy="566928"/>
          </a:xfrm>
          <a:prstGeom prst="ellipse">
            <a:avLst/>
          </a:prstGeom>
          <a:solidFill>
            <a:schemeClr val="accent4"/>
          </a:solidFill>
          <a:ln/>
        </p:spPr>
      </p:sp>
      <p:pic>
        <p:nvPicPr>
          <p:cNvPr id="14" name="Finding icon 4" descr="Finding icon 4"/>
          <p:cNvPicPr>
            <a:picLocks noChangeAspect="1"/>
          </p:cNvPicPr>
          <p:nvPr/>
        </p:nvPicPr>
        <p:blipFill>
          <a:blip r:embed="rId6"/>
          <a:stretch>
            <a:fillRect/>
          </a:stretch>
        </p:blipFill>
        <p:spPr>
          <a:xfrm>
            <a:off x="690372" y="4805172"/>
            <a:ext cx="283464" cy="283464"/>
          </a:xfrm>
          <a:prstGeom prst="rect">
            <a:avLst/>
          </a:prstGeom>
        </p:spPr>
      </p:pic>
      <p:sp>
        <p:nvSpPr>
          <p:cNvPr id="15" name="Finding 4"/>
          <p:cNvSpPr txBox="1"/>
          <p:nvPr/>
        </p:nvSpPr>
        <p:spPr>
          <a:xfrm>
            <a:off x="1325880" y="4608576"/>
            <a:ext cx="6035040" cy="685800"/>
          </a:xfrm>
          <a:prstGeom prst="rect">
            <a:avLst/>
          </a:prstGeom>
          <a:noFill/>
          <a:ln/>
        </p:spPr>
        <p:txBody>
          <a:bodyPr wrap="square" lIns="0" tIns="0" rIns="0" bIns="0" rtlCol="0" anchor="ctr"/>
          <a:lstStyle/>
          <a:p>
            <a:pPr marL="0" indent="0">
              <a:buNone/>
            </a:pPr>
            <a:r>
              <a:rPr lang="en-US" sz="1600" b="1" dirty="0">
                <a:solidFill>
                  <a:schemeClr val="tx1"/>
                </a:solidFill>
              </a:rPr>
              <a:t>Speed depends on city</a:t>
            </a:r>
            <a:endParaRPr lang="en-US" sz="1600" dirty="0"/>
          </a:p>
          <a:p>
            <a:pPr marL="0" indent="0">
              <a:buNone/>
            </a:pPr>
            <a:r>
              <a:rPr lang="en-US" sz="1400" dirty="0">
                <a:solidFill>
                  <a:schemeClr val="accent5"/>
                </a:solidFill>
              </a:rPr>
              <a:t>Bangalore and Chennai are 18 min faster; distance adds under 1 min.</a:t>
            </a:r>
            <a:endParaRPr lang="en-US" sz="1600" dirty="0"/>
          </a:p>
        </p:txBody>
      </p:sp>
      <p:sp>
        <p:nvSpPr>
          <p:cNvPr id="16" name="Finding icon 5 circle"/>
          <p:cNvSpPr/>
          <p:nvPr/>
        </p:nvSpPr>
        <p:spPr>
          <a:xfrm>
            <a:off x="548640" y="5468112"/>
            <a:ext cx="566928" cy="566928"/>
          </a:xfrm>
          <a:prstGeom prst="ellipse">
            <a:avLst/>
          </a:prstGeom>
          <a:solidFill>
            <a:schemeClr val="accent1"/>
          </a:solidFill>
          <a:ln/>
        </p:spPr>
      </p:sp>
      <p:pic>
        <p:nvPicPr>
          <p:cNvPr id="17" name="Finding icon 5" descr="Finding icon 5"/>
          <p:cNvPicPr>
            <a:picLocks noChangeAspect="1"/>
          </p:cNvPicPr>
          <p:nvPr/>
        </p:nvPicPr>
        <p:blipFill>
          <a:blip r:embed="rId7"/>
          <a:stretch>
            <a:fillRect/>
          </a:stretch>
        </p:blipFill>
        <p:spPr>
          <a:xfrm>
            <a:off x="690372" y="5609844"/>
            <a:ext cx="283464" cy="283464"/>
          </a:xfrm>
          <a:prstGeom prst="rect">
            <a:avLst/>
          </a:prstGeom>
        </p:spPr>
      </p:pic>
      <p:sp>
        <p:nvSpPr>
          <p:cNvPr id="18" name="Finding 5"/>
          <p:cNvSpPr txBox="1"/>
          <p:nvPr/>
        </p:nvSpPr>
        <p:spPr>
          <a:xfrm>
            <a:off x="1325880" y="5413248"/>
            <a:ext cx="6035040" cy="685800"/>
          </a:xfrm>
          <a:prstGeom prst="rect">
            <a:avLst/>
          </a:prstGeom>
          <a:noFill/>
          <a:ln/>
        </p:spPr>
        <p:txBody>
          <a:bodyPr wrap="square" lIns="0" tIns="0" rIns="0" bIns="0" rtlCol="0" anchor="ctr"/>
          <a:lstStyle/>
          <a:p>
            <a:pPr marL="0" indent="0">
              <a:buNone/>
            </a:pPr>
            <a:r>
              <a:rPr lang="en-US" sz="1600" b="1" dirty="0">
                <a:solidFill>
                  <a:schemeClr val="tx1"/>
                </a:solidFill>
              </a:rPr>
              <a:t>Cancellation data has gaps</a:t>
            </a:r>
            <a:endParaRPr lang="en-US" sz="1600" dirty="0"/>
          </a:p>
          <a:p>
            <a:pPr marL="0" indent="0">
              <a:buNone/>
            </a:pPr>
            <a:r>
              <a:rPr lang="en-US" sz="1400" dirty="0">
                <a:solidFill>
                  <a:schemeClr val="accent5"/>
                </a:solidFill>
              </a:rPr>
              <a:t>15,036 cancelled orders; 40% have no reason recorded.</a:t>
            </a:r>
            <a:endParaRPr lang="en-US" sz="1600" dirty="0"/>
          </a:p>
        </p:txBody>
      </p:sp>
      <p:sp>
        <p:nvSpPr>
          <p:cNvPr id="19" name="Next steps card"/>
          <p:cNvSpPr/>
          <p:nvPr/>
        </p:nvSpPr>
        <p:spPr>
          <a:xfrm>
            <a:off x="7772400" y="2194560"/>
            <a:ext cx="3867912" cy="4023360"/>
          </a:xfrm>
          <a:prstGeom prst="roundRect">
            <a:avLst>
              <a:gd name="adj" fmla="val 2837"/>
            </a:avLst>
          </a:prstGeom>
          <a:solidFill>
            <a:schemeClr val="bg2"/>
          </a:solidFill>
          <a:ln/>
        </p:spPr>
      </p:sp>
      <p:sp>
        <p:nvSpPr>
          <p:cNvPr id="20" name="Next steps title"/>
          <p:cNvSpPr txBox="1"/>
          <p:nvPr/>
        </p:nvSpPr>
        <p:spPr>
          <a:xfrm>
            <a:off x="8001000" y="2331720"/>
            <a:ext cx="3383280" cy="457200"/>
          </a:xfrm>
          <a:prstGeom prst="rect">
            <a:avLst/>
          </a:prstGeom>
          <a:noFill/>
          <a:ln/>
        </p:spPr>
        <p:txBody>
          <a:bodyPr wrap="square" lIns="0" tIns="0" rIns="0" bIns="0" rtlCol="0" anchor="ctr"/>
          <a:lstStyle/>
          <a:p>
            <a:pPr marL="0" indent="0">
              <a:buNone/>
            </a:pPr>
            <a:r>
              <a:rPr lang="en-US" sz="2000" b="1" dirty="0">
                <a:solidFill>
                  <a:schemeClr val="tx1"/>
                </a:solidFill>
              </a:rPr>
              <a:t>What to do next</a:t>
            </a:r>
            <a:endParaRPr lang="en-US" sz="2000" dirty="0"/>
          </a:p>
        </p:txBody>
      </p:sp>
      <p:sp>
        <p:nvSpPr>
          <p:cNvPr id="21" name="Step circle 1"/>
          <p:cNvSpPr/>
          <p:nvPr/>
        </p:nvSpPr>
        <p:spPr>
          <a:xfrm>
            <a:off x="8001000" y="2980944"/>
            <a:ext cx="384048" cy="384048"/>
          </a:xfrm>
          <a:prstGeom prst="ellipse">
            <a:avLst/>
          </a:prstGeom>
          <a:solidFill>
            <a:schemeClr val="accent1"/>
          </a:solidFill>
          <a:ln/>
        </p:spPr>
      </p:sp>
      <p:sp>
        <p:nvSpPr>
          <p:cNvPr id="22" name="Step number 1"/>
          <p:cNvSpPr txBox="1"/>
          <p:nvPr/>
        </p:nvSpPr>
        <p:spPr>
          <a:xfrm>
            <a:off x="8001000" y="2980944"/>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1</a:t>
            </a:r>
            <a:endParaRPr lang="en-US" sz="1400" dirty="0"/>
          </a:p>
        </p:txBody>
      </p:sp>
      <p:sp>
        <p:nvSpPr>
          <p:cNvPr id="23" name="Step 1"/>
          <p:cNvSpPr txBox="1"/>
          <p:nvPr/>
        </p:nvSpPr>
        <p:spPr>
          <a:xfrm>
            <a:off x="8549640" y="2926080"/>
            <a:ext cx="2880360" cy="713232"/>
          </a:xfrm>
          <a:prstGeom prst="rect">
            <a:avLst/>
          </a:prstGeom>
          <a:noFill/>
          <a:ln/>
        </p:spPr>
        <p:txBody>
          <a:bodyPr wrap="square" lIns="0" tIns="0" rIns="0" bIns="0" rtlCol="0" anchor="ctr"/>
          <a:lstStyle/>
          <a:p>
            <a:pPr marL="0" indent="0">
              <a:buNone/>
            </a:pPr>
            <a:r>
              <a:rPr lang="en-US" sz="1400" dirty="0">
                <a:solidFill>
                  <a:schemeClr val="tx1"/>
                </a:solidFill>
              </a:rPr>
              <a:t>Check what drove July's 17% revenue spike</a:t>
            </a:r>
            <a:endParaRPr lang="en-US" sz="1400" dirty="0"/>
          </a:p>
        </p:txBody>
      </p:sp>
      <p:sp>
        <p:nvSpPr>
          <p:cNvPr id="24" name="Step circle 2"/>
          <p:cNvSpPr/>
          <p:nvPr/>
        </p:nvSpPr>
        <p:spPr>
          <a:xfrm>
            <a:off x="8001000" y="3785616"/>
            <a:ext cx="384048" cy="384048"/>
          </a:xfrm>
          <a:prstGeom prst="ellipse">
            <a:avLst/>
          </a:prstGeom>
          <a:solidFill>
            <a:schemeClr val="accent1"/>
          </a:solidFill>
          <a:ln/>
        </p:spPr>
      </p:sp>
      <p:sp>
        <p:nvSpPr>
          <p:cNvPr id="25" name="Step number 2"/>
          <p:cNvSpPr txBox="1"/>
          <p:nvPr/>
        </p:nvSpPr>
        <p:spPr>
          <a:xfrm>
            <a:off x="8001000" y="3785616"/>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2</a:t>
            </a:r>
            <a:endParaRPr lang="en-US" sz="1400" dirty="0"/>
          </a:p>
        </p:txBody>
      </p:sp>
      <p:sp>
        <p:nvSpPr>
          <p:cNvPr id="26" name="Step 2"/>
          <p:cNvSpPr txBox="1"/>
          <p:nvPr/>
        </p:nvSpPr>
        <p:spPr>
          <a:xfrm>
            <a:off x="8549640" y="3730752"/>
            <a:ext cx="2880360" cy="713232"/>
          </a:xfrm>
          <a:prstGeom prst="rect">
            <a:avLst/>
          </a:prstGeom>
          <a:noFill/>
          <a:ln/>
        </p:spPr>
        <p:txBody>
          <a:bodyPr wrap="square" lIns="0" tIns="0" rIns="0" bIns="0" rtlCol="0" anchor="ctr"/>
          <a:lstStyle/>
          <a:p>
            <a:pPr marL="0" indent="0">
              <a:buNone/>
            </a:pPr>
            <a:r>
              <a:rPr lang="en-US" sz="1400" dirty="0">
                <a:solidFill>
                  <a:schemeClr val="tx1"/>
                </a:solidFill>
              </a:rPr>
              <a:t>Find why Hyderabad, Delhi and Mumbai deliver about 18 min slower</a:t>
            </a:r>
            <a:endParaRPr lang="en-US" sz="1400" dirty="0"/>
          </a:p>
        </p:txBody>
      </p:sp>
      <p:sp>
        <p:nvSpPr>
          <p:cNvPr id="27" name="Step circle 3"/>
          <p:cNvSpPr/>
          <p:nvPr/>
        </p:nvSpPr>
        <p:spPr>
          <a:xfrm>
            <a:off x="8001000" y="4590288"/>
            <a:ext cx="384048" cy="384048"/>
          </a:xfrm>
          <a:prstGeom prst="ellipse">
            <a:avLst/>
          </a:prstGeom>
          <a:solidFill>
            <a:schemeClr val="accent1"/>
          </a:solidFill>
          <a:ln/>
        </p:spPr>
      </p:sp>
      <p:sp>
        <p:nvSpPr>
          <p:cNvPr id="28" name="Step number 3"/>
          <p:cNvSpPr txBox="1"/>
          <p:nvPr/>
        </p:nvSpPr>
        <p:spPr>
          <a:xfrm>
            <a:off x="8001000" y="4590288"/>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3</a:t>
            </a:r>
            <a:endParaRPr lang="en-US" sz="1400" dirty="0"/>
          </a:p>
        </p:txBody>
      </p:sp>
      <p:sp>
        <p:nvSpPr>
          <p:cNvPr id="29" name="Step 3"/>
          <p:cNvSpPr txBox="1"/>
          <p:nvPr/>
        </p:nvSpPr>
        <p:spPr>
          <a:xfrm>
            <a:off x="8549640" y="4535424"/>
            <a:ext cx="2880360" cy="713232"/>
          </a:xfrm>
          <a:prstGeom prst="rect">
            <a:avLst/>
          </a:prstGeom>
          <a:noFill/>
          <a:ln/>
        </p:spPr>
        <p:txBody>
          <a:bodyPr wrap="square" lIns="0" tIns="0" rIns="0" bIns="0" rtlCol="0" anchor="ctr"/>
          <a:lstStyle/>
          <a:p>
            <a:pPr marL="0" indent="0">
              <a:buNone/>
            </a:pPr>
            <a:r>
              <a:rPr lang="en-US" sz="1400" dirty="0">
                <a:solidFill>
                  <a:schemeClr val="tx1"/>
                </a:solidFill>
              </a:rPr>
              <a:t>Require a reason on every cancelled order</a:t>
            </a:r>
            <a:endParaRPr lang="en-US" sz="1400" dirty="0"/>
          </a:p>
        </p:txBody>
      </p:sp>
      <p:sp>
        <p:nvSpPr>
          <p:cNvPr id="30" name="Step circle 4"/>
          <p:cNvSpPr/>
          <p:nvPr/>
        </p:nvSpPr>
        <p:spPr>
          <a:xfrm>
            <a:off x="8001000" y="5394960"/>
            <a:ext cx="384048" cy="384048"/>
          </a:xfrm>
          <a:prstGeom prst="ellipse">
            <a:avLst/>
          </a:prstGeom>
          <a:solidFill>
            <a:schemeClr val="accent1"/>
          </a:solidFill>
          <a:ln/>
        </p:spPr>
      </p:sp>
      <p:sp>
        <p:nvSpPr>
          <p:cNvPr id="31" name="Step number 4"/>
          <p:cNvSpPr txBox="1"/>
          <p:nvPr/>
        </p:nvSpPr>
        <p:spPr>
          <a:xfrm>
            <a:off x="8001000" y="5394960"/>
            <a:ext cx="384048" cy="384048"/>
          </a:xfrm>
          <a:prstGeom prst="rect">
            <a:avLst/>
          </a:prstGeom>
          <a:noFill/>
          <a:ln/>
        </p:spPr>
        <p:txBody>
          <a:bodyPr wrap="square" lIns="0" tIns="0" rIns="0" bIns="0" rtlCol="0" anchor="ctr"/>
          <a:lstStyle/>
          <a:p>
            <a:pPr marL="0" indent="0" algn="ctr">
              <a:buNone/>
            </a:pPr>
            <a:r>
              <a:rPr lang="en-US" sz="1400" b="1" dirty="0">
                <a:solidFill>
                  <a:schemeClr val="bg1"/>
                </a:solidFill>
              </a:rPr>
              <a:t>4</a:t>
            </a:r>
            <a:endParaRPr lang="en-US" sz="1400" dirty="0"/>
          </a:p>
        </p:txBody>
      </p:sp>
      <p:sp>
        <p:nvSpPr>
          <p:cNvPr id="32" name="Step 4"/>
          <p:cNvSpPr txBox="1"/>
          <p:nvPr/>
        </p:nvSpPr>
        <p:spPr>
          <a:xfrm>
            <a:off x="8549640" y="5340096"/>
            <a:ext cx="2880360" cy="713232"/>
          </a:xfrm>
          <a:prstGeom prst="rect">
            <a:avLst/>
          </a:prstGeom>
          <a:noFill/>
          <a:ln/>
        </p:spPr>
        <p:txBody>
          <a:bodyPr wrap="square" lIns="0" tIns="0" rIns="0" bIns="0" rtlCol="0" anchor="ctr"/>
          <a:lstStyle/>
          <a:p>
            <a:pPr marL="0" indent="0">
              <a:buNone/>
            </a:pPr>
            <a:r>
              <a:rPr lang="en-US" sz="1400" dirty="0">
                <a:solidFill>
                  <a:schemeClr val="tx1"/>
                </a:solidFill>
              </a:rPr>
              <a:t>Re-check distance, delivery-time and peak-hour values for filled-in data</a:t>
            </a:r>
            <a:endParaRPr lang="en-US" sz="1400" dirty="0"/>
          </a:p>
        </p:txBody>
      </p:sp>
      <p:sp>
        <p:nvSpPr>
          <p:cNvPr id="33" name="Slide Number Placeholder 0"/>
          <p:cNvSpPr>
            <a:spLocks noGrp="1"/>
          </p:cNvSpPr>
          <p:nvPr>
            <p:ph type="sldNum" sz="quarter" idx="4294967295"/>
          </p:nvPr>
        </p:nvSpPr>
        <p:spPr>
          <a:xfrm>
            <a:off x="10972800" y="6419088"/>
            <a:ext cx="667512"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103120"/>
            <a:ext cx="6949440" cy="173736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Tree>
  </p:cSld>
  <p:clrMapOvr>
    <a:masterClrMapping/>
  </p:clrMapOvr>
</p:sld>
</file>

<file path=ppt/theme/theme1.xml><?xml version="1.0" encoding="utf-8"?>
<a:theme xmlns:a="http://schemas.openxmlformats.org/drawingml/2006/main" name="Food Delivery">
  <a:themeElements>
    <a:clrScheme name="Food Delivery">
      <a:dk1>
        <a:srgbClr val="231F20"/>
      </a:dk1>
      <a:lt1>
        <a:srgbClr val="FFFFFF"/>
      </a:lt1>
      <a:dk2>
        <a:srgbClr val="2B1A14"/>
      </a:dk2>
      <a:lt2>
        <a:srgbClr val="F4F5F7"/>
      </a:lt2>
      <a:accent1>
        <a:srgbClr val="E4572E"/>
      </a:accent1>
      <a:accent2>
        <a:srgbClr val="2A9D8F"/>
      </a:accent2>
      <a:accent3>
        <a:srgbClr val="F4A261"/>
      </a:accent3>
      <a:accent4>
        <a:srgbClr val="264653"/>
      </a:accent4>
      <a:accent5>
        <a:srgbClr val="5F6670"/>
      </a:accent5>
      <a:accent6>
        <a:srgbClr val="AEB5BF"/>
      </a:accent6>
      <a:hlink>
        <a:srgbClr val="B8421F"/>
      </a:hlink>
      <a:folHlink>
        <a:srgbClr val="7A3B28"/>
      </a:folHlink>
    </a:clrScheme>
    <a:fontScheme name="Food Deliver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2011</Words>
  <Application>Microsoft Office PowerPoint</Application>
  <PresentationFormat>Widescreen</PresentationFormat>
  <Paragraphs>336</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Food Delivery</vt:lpstr>
      <vt:lpstr>Food Delivery Analysis</vt:lpstr>
      <vt:lpstr>Agenda</vt:lpstr>
      <vt:lpstr>Top-Spending Customers</vt:lpstr>
      <vt:lpstr>Age Group vs Order Value</vt:lpstr>
      <vt:lpstr>Weekend vs Weekday Order Patterns</vt:lpstr>
      <vt:lpstr>Peak Hour Demand Analysis</vt:lpstr>
      <vt:lpstr>Payment Mode Preferences</vt:lpstr>
      <vt:lpstr>Monthly Revenue Trends</vt:lpstr>
      <vt:lpstr>Impact of Discounts on Profit</vt:lpstr>
      <vt:lpstr>High-Revenue Cities and Cuisines</vt:lpstr>
      <vt:lpstr>Cuisine-Wise Performance</vt:lpstr>
      <vt:lpstr>Average Delivery Time by City</vt:lpstr>
      <vt:lpstr>Distance vs Delivery Delay</vt:lpstr>
      <vt:lpstr>Delivery Rating vs Delivery Time</vt:lpstr>
      <vt:lpstr>Top-Rated Restaurants</vt:lpstr>
      <vt:lpstr>Cancellation Rate by Restaurant</vt:lpstr>
      <vt:lpstr>Cancellation Reason Analysis</vt:lpstr>
      <vt:lpstr>Key Takeaways and Next Steps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 Delivery Analysis</dc:title>
  <dc:subject>PptxGenJS Presentation</dc:subject>
  <dc:creator>Janani</dc:creator>
  <cp:lastModifiedBy>Janani Murugavel</cp:lastModifiedBy>
  <cp:revision>2</cp:revision>
  <dcterms:created xsi:type="dcterms:W3CDTF">2026-10-16T08:52:32Z</dcterms:created>
  <dcterms:modified xsi:type="dcterms:W3CDTF">2026-10-16T09:28:06Z</dcterms:modified>
</cp:coreProperties>
</file>